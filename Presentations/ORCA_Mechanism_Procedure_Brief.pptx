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63" r:id="rId5"/>
    <p:sldMasterId id="2147483665" r:id="rId6"/>
    <p:sldMasterId id="2147483667" r:id="rId7"/>
  </p:sldMasterIdLst>
  <p:notesMasterIdLst>
    <p:notesMasterId r:id="rId25"/>
  </p:notesMasterIdLst>
  <p:sldIdLst>
    <p:sldId id="257" r:id="rId8"/>
    <p:sldId id="4452" r:id="rId9"/>
    <p:sldId id="265" r:id="rId10"/>
    <p:sldId id="277" r:id="rId11"/>
    <p:sldId id="4458" r:id="rId12"/>
    <p:sldId id="4454" r:id="rId13"/>
    <p:sldId id="4457" r:id="rId14"/>
    <p:sldId id="4459" r:id="rId15"/>
    <p:sldId id="4456" r:id="rId16"/>
    <p:sldId id="260" r:id="rId17"/>
    <p:sldId id="4460" r:id="rId18"/>
    <p:sldId id="4461" r:id="rId19"/>
    <p:sldId id="4462" r:id="rId20"/>
    <p:sldId id="4464" r:id="rId21"/>
    <p:sldId id="4465" r:id="rId22"/>
    <p:sldId id="258" r:id="rId23"/>
    <p:sldId id="26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9E4"/>
    <a:srgbClr val="C3C8C8"/>
    <a:srgbClr val="001C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39"/>
    <p:restoredTop sz="95851"/>
  </p:normalViewPr>
  <p:slideViewPr>
    <p:cSldViewPr snapToGrid="0">
      <p:cViewPr varScale="1">
        <p:scale>
          <a:sx n="116" d="100"/>
          <a:sy n="116" d="100"/>
        </p:scale>
        <p:origin x="832" y="192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52C2A6-116E-4CEC-A74C-2CA436D540A1}" type="datetimeFigureOut">
              <a:t>7/7/26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0F8468-58EB-443A-B2EC-ACBA36A0F36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674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F8468-58EB-443A-B2EC-ACBA36A0F363}" type="slidenum">
              <a:rPr lang="en-NZ" smtClean="0"/>
              <a:t>9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85645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2068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819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7546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ive Background 1">
    <p:bg>
      <p:bgPr>
        <a:solidFill>
          <a:schemeClr val="bg1">
            <a:alpha val="7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8690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ive Background 2">
    <p:bg>
      <p:bgPr>
        <a:solidFill>
          <a:schemeClr val="bg1">
            <a:alpha val="7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364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ckground">
    <p:bg>
      <p:bgPr>
        <a:solidFill>
          <a:schemeClr val="bg1">
            <a:alpha val="7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8987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ED6A5BB-1296-6F4D-B424-3E9116C0CD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319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REANNZ_logo_RGB.ai">
            <a:extLst>
              <a:ext uri="{FF2B5EF4-FFF2-40B4-BE49-F238E27FC236}">
                <a16:creationId xmlns:a16="http://schemas.microsoft.com/office/drawing/2014/main" id="{D7705D61-4227-A048-9B57-5CC8939ED21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159" y="5900867"/>
            <a:ext cx="1841409" cy="76849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A6EBB2-9710-4747-A246-7C390FF8DDC6}"/>
              </a:ext>
            </a:extLst>
          </p:cNvPr>
          <p:cNvCxnSpPr>
            <a:cxnSpLocks/>
          </p:cNvCxnSpPr>
          <p:nvPr userDrawn="1"/>
        </p:nvCxnSpPr>
        <p:spPr>
          <a:xfrm>
            <a:off x="2207568" y="6309320"/>
            <a:ext cx="9289032" cy="0"/>
          </a:xfrm>
          <a:prstGeom prst="line">
            <a:avLst/>
          </a:prstGeom>
          <a:ln w="161925" cap="rnd">
            <a:solidFill>
              <a:srgbClr val="00B9E4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19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9" r:id="rId2"/>
    <p:sldLayoutId id="214748367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REANNZ_logo_RGB.ai">
            <a:extLst>
              <a:ext uri="{FF2B5EF4-FFF2-40B4-BE49-F238E27FC236}">
                <a16:creationId xmlns:a16="http://schemas.microsoft.com/office/drawing/2014/main" id="{D7705D61-4227-A048-9B57-5CC8939ED21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159" y="5900867"/>
            <a:ext cx="1841409" cy="768493"/>
          </a:xfrm>
          <a:prstGeom prst="rect">
            <a:avLst/>
          </a:prstGeom>
        </p:spPr>
      </p:pic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C6DB3383-D9F9-D54C-BF6E-A6B959E200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51000"/>
          </a:blip>
          <a:srcRect l="55936" t="60500"/>
          <a:stretch/>
        </p:blipFill>
        <p:spPr>
          <a:xfrm>
            <a:off x="6960097" y="228857"/>
            <a:ext cx="5231904" cy="662914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687211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REANNZ_logo_RGB.ai">
            <a:extLst>
              <a:ext uri="{FF2B5EF4-FFF2-40B4-BE49-F238E27FC236}">
                <a16:creationId xmlns:a16="http://schemas.microsoft.com/office/drawing/2014/main" id="{D7705D61-4227-A048-9B57-5CC8939ED21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159" y="5900867"/>
            <a:ext cx="1841409" cy="768493"/>
          </a:xfrm>
          <a:prstGeom prst="rect">
            <a:avLst/>
          </a:prstGeom>
        </p:spPr>
      </p:pic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C6DB3383-D9F9-D54C-BF6E-A6B959E200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51000"/>
          </a:blip>
          <a:srcRect l="55936" t="60500"/>
          <a:stretch/>
        </p:blipFill>
        <p:spPr>
          <a:xfrm rot="16200000">
            <a:off x="8666828" y="-711920"/>
            <a:ext cx="5231904" cy="662914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841520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3403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9" Type="http://schemas.openxmlformats.org/officeDocument/2006/relationships/image" Target="../media/image43.jpeg"/><Relationship Id="rId21" Type="http://schemas.openxmlformats.org/officeDocument/2006/relationships/image" Target="../media/image25.png"/><Relationship Id="rId34" Type="http://schemas.openxmlformats.org/officeDocument/2006/relationships/image" Target="../media/image38.jpeg"/><Relationship Id="rId7" Type="http://schemas.openxmlformats.org/officeDocument/2006/relationships/image" Target="../media/image11.png"/><Relationship Id="rId12" Type="http://schemas.openxmlformats.org/officeDocument/2006/relationships/image" Target="../media/image16.jpeg"/><Relationship Id="rId17" Type="http://schemas.openxmlformats.org/officeDocument/2006/relationships/image" Target="../media/image21.png"/><Relationship Id="rId25" Type="http://schemas.openxmlformats.org/officeDocument/2006/relationships/image" Target="../media/image29.jpeg"/><Relationship Id="rId33" Type="http://schemas.openxmlformats.org/officeDocument/2006/relationships/image" Target="../media/image37.png"/><Relationship Id="rId38" Type="http://schemas.openxmlformats.org/officeDocument/2006/relationships/image" Target="../media/image42.jpeg"/><Relationship Id="rId2" Type="http://schemas.openxmlformats.org/officeDocument/2006/relationships/image" Target="../media/image6.png"/><Relationship Id="rId16" Type="http://schemas.openxmlformats.org/officeDocument/2006/relationships/image" Target="../media/image20.jpeg"/><Relationship Id="rId20" Type="http://schemas.openxmlformats.org/officeDocument/2006/relationships/image" Target="../media/image24.jpeg"/><Relationship Id="rId29" Type="http://schemas.openxmlformats.org/officeDocument/2006/relationships/image" Target="../media/image33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15.jpeg"/><Relationship Id="rId24" Type="http://schemas.openxmlformats.org/officeDocument/2006/relationships/image" Target="../media/image28.png"/><Relationship Id="rId32" Type="http://schemas.openxmlformats.org/officeDocument/2006/relationships/image" Target="../media/image36.jpeg"/><Relationship Id="rId37" Type="http://schemas.openxmlformats.org/officeDocument/2006/relationships/image" Target="../media/image41.png"/><Relationship Id="rId5" Type="http://schemas.openxmlformats.org/officeDocument/2006/relationships/image" Target="../media/image9.png"/><Relationship Id="rId15" Type="http://schemas.openxmlformats.org/officeDocument/2006/relationships/image" Target="../media/image19.jpeg"/><Relationship Id="rId23" Type="http://schemas.openxmlformats.org/officeDocument/2006/relationships/image" Target="../media/image27.png"/><Relationship Id="rId28" Type="http://schemas.openxmlformats.org/officeDocument/2006/relationships/image" Target="../media/image32.jpeg"/><Relationship Id="rId36" Type="http://schemas.openxmlformats.org/officeDocument/2006/relationships/image" Target="../media/image40.png"/><Relationship Id="rId10" Type="http://schemas.openxmlformats.org/officeDocument/2006/relationships/image" Target="../media/image14.png"/><Relationship Id="rId19" Type="http://schemas.openxmlformats.org/officeDocument/2006/relationships/image" Target="../media/image23.jpeg"/><Relationship Id="rId31" Type="http://schemas.openxmlformats.org/officeDocument/2006/relationships/image" Target="../media/image35.jpeg"/><Relationship Id="rId4" Type="http://schemas.openxmlformats.org/officeDocument/2006/relationships/image" Target="../media/image8.jpeg"/><Relationship Id="rId9" Type="http://schemas.openxmlformats.org/officeDocument/2006/relationships/image" Target="../media/image13.jpe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Relationship Id="rId35" Type="http://schemas.openxmlformats.org/officeDocument/2006/relationships/image" Target="../media/image39.png"/><Relationship Id="rId8" Type="http://schemas.openxmlformats.org/officeDocument/2006/relationships/image" Target="../media/image12.jpeg"/><Relationship Id="rId3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gif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ondemand.nesi.org.nz/public/" TargetMode="External"/><Relationship Id="rId2" Type="http://schemas.openxmlformats.org/officeDocument/2006/relationships/hyperlink" Target="https://geoffreyweal.github.io/ORCA_Mechanism_Procedure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person, sitting, water, table&#10;&#10;Description automatically generated">
            <a:extLst>
              <a:ext uri="{FF2B5EF4-FFF2-40B4-BE49-F238E27FC236}">
                <a16:creationId xmlns:a16="http://schemas.microsoft.com/office/drawing/2014/main" id="{477EE237-C959-6F45-A392-7CAD42A69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600" y="-13688"/>
            <a:ext cx="7344400" cy="6885375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1845CCE0-2D3A-C54C-81DA-267D807490C4}"/>
              </a:ext>
            </a:extLst>
          </p:cNvPr>
          <p:cNvSpPr/>
          <p:nvPr/>
        </p:nvSpPr>
        <p:spPr>
          <a:xfrm>
            <a:off x="-250962" y="-39386"/>
            <a:ext cx="9480376" cy="6952260"/>
          </a:xfrm>
          <a:custGeom>
            <a:avLst/>
            <a:gdLst>
              <a:gd name="connsiteX0" fmla="*/ 0 w 7915774"/>
              <a:gd name="connsiteY0" fmla="*/ 0 h 6881381"/>
              <a:gd name="connsiteX1" fmla="*/ 7915774 w 7915774"/>
              <a:gd name="connsiteY1" fmla="*/ 9845 h 6881381"/>
              <a:gd name="connsiteX2" fmla="*/ 4676608 w 7915774"/>
              <a:gd name="connsiteY2" fmla="*/ 6871536 h 6881381"/>
              <a:gd name="connsiteX3" fmla="*/ 19690 w 7915774"/>
              <a:gd name="connsiteY3" fmla="*/ 6881381 h 6881381"/>
              <a:gd name="connsiteX4" fmla="*/ 0 w 7915774"/>
              <a:gd name="connsiteY4" fmla="*/ 0 h 6881381"/>
              <a:gd name="connsiteX0" fmla="*/ 0 w 8974901"/>
              <a:gd name="connsiteY0" fmla="*/ 0 h 6892670"/>
              <a:gd name="connsiteX1" fmla="*/ 8974901 w 8974901"/>
              <a:gd name="connsiteY1" fmla="*/ 21134 h 6892670"/>
              <a:gd name="connsiteX2" fmla="*/ 5735735 w 8974901"/>
              <a:gd name="connsiteY2" fmla="*/ 6882825 h 6892670"/>
              <a:gd name="connsiteX3" fmla="*/ 1078817 w 8974901"/>
              <a:gd name="connsiteY3" fmla="*/ 6892670 h 6892670"/>
              <a:gd name="connsiteX4" fmla="*/ 0 w 8974901"/>
              <a:gd name="connsiteY4" fmla="*/ 0 h 6892670"/>
              <a:gd name="connsiteX0" fmla="*/ 0 w 8974901"/>
              <a:gd name="connsiteY0" fmla="*/ 0 h 6882825"/>
              <a:gd name="connsiteX1" fmla="*/ 8974901 w 8974901"/>
              <a:gd name="connsiteY1" fmla="*/ 21134 h 6882825"/>
              <a:gd name="connsiteX2" fmla="*/ 5735735 w 8974901"/>
              <a:gd name="connsiteY2" fmla="*/ 6882825 h 6882825"/>
              <a:gd name="connsiteX3" fmla="*/ 51785 w 8974901"/>
              <a:gd name="connsiteY3" fmla="*/ 6864447 h 6882825"/>
              <a:gd name="connsiteX4" fmla="*/ 0 w 8974901"/>
              <a:gd name="connsiteY4" fmla="*/ 0 h 6882825"/>
              <a:gd name="connsiteX0" fmla="*/ 0 w 8974901"/>
              <a:gd name="connsiteY0" fmla="*/ 0 h 6882825"/>
              <a:gd name="connsiteX1" fmla="*/ 8974901 w 8974901"/>
              <a:gd name="connsiteY1" fmla="*/ 21134 h 6882825"/>
              <a:gd name="connsiteX2" fmla="*/ 5735735 w 8974901"/>
              <a:gd name="connsiteY2" fmla="*/ 6882825 h 6882825"/>
              <a:gd name="connsiteX3" fmla="*/ 3643 w 8974901"/>
              <a:gd name="connsiteY3" fmla="*/ 6881381 h 6882825"/>
              <a:gd name="connsiteX4" fmla="*/ 0 w 8974901"/>
              <a:gd name="connsiteY4" fmla="*/ 0 h 6882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74901" h="6882825">
                <a:moveTo>
                  <a:pt x="0" y="0"/>
                </a:moveTo>
                <a:lnTo>
                  <a:pt x="8974901" y="21134"/>
                </a:lnTo>
                <a:lnTo>
                  <a:pt x="5735735" y="6882825"/>
                </a:lnTo>
                <a:lnTo>
                  <a:pt x="3643" y="6881381"/>
                </a:lnTo>
                <a:cubicBezTo>
                  <a:pt x="-2920" y="4590869"/>
                  <a:pt x="6563" y="2300357"/>
                  <a:pt x="0" y="0"/>
                </a:cubicBezTo>
                <a:close/>
              </a:path>
            </a:pathLst>
          </a:custGeom>
          <a:solidFill>
            <a:srgbClr val="15ABDE"/>
          </a:solidFill>
          <a:ln>
            <a:solidFill>
              <a:srgbClr val="14A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Bryant Pro Medium"/>
              <a:cs typeface="Bryant Pro Medium"/>
            </a:endParaRPr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E346F131-B805-5948-85BB-546932863CD4}"/>
              </a:ext>
            </a:extLst>
          </p:cNvPr>
          <p:cNvSpPr txBox="1">
            <a:spLocks/>
          </p:cNvSpPr>
          <p:nvPr/>
        </p:nvSpPr>
        <p:spPr>
          <a:xfrm>
            <a:off x="545218" y="739736"/>
            <a:ext cx="2133600" cy="365125"/>
          </a:xfrm>
          <a:prstGeom prst="rect">
            <a:avLst/>
          </a:prstGeom>
          <a:noFill/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5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2CDF92-58A1-F446-82C2-D43F988A9246}" type="datetime4">
              <a:rPr lang="en-NZ" smtClean="0">
                <a:latin typeface="Arial"/>
                <a:cs typeface="Arial"/>
              </a:rPr>
              <a:pPr/>
              <a:t>7 July 2026</a:t>
            </a:fld>
            <a:endParaRPr lang="en-US" dirty="0">
              <a:latin typeface="Arial"/>
              <a:cs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49D891-5293-A548-9384-90A31C213D11}"/>
              </a:ext>
            </a:extLst>
          </p:cNvPr>
          <p:cNvSpPr txBox="1"/>
          <p:nvPr/>
        </p:nvSpPr>
        <p:spPr>
          <a:xfrm>
            <a:off x="545218" y="1583901"/>
            <a:ext cx="7834853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+mj-lt"/>
              </a:rPr>
              <a:t>Reaction Mechanisms in ORCA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05D692-022E-7040-922F-20E8AAC1B247}"/>
              </a:ext>
            </a:extLst>
          </p:cNvPr>
          <p:cNvSpPr txBox="1"/>
          <p:nvPr/>
        </p:nvSpPr>
        <p:spPr>
          <a:xfrm>
            <a:off x="545218" y="3317473"/>
            <a:ext cx="84694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+mj-lt"/>
              </a:rPr>
              <a:t>Geoffrey Weal</a:t>
            </a:r>
          </a:p>
        </p:txBody>
      </p:sp>
      <p:pic>
        <p:nvPicPr>
          <p:cNvPr id="24" name="Picture 23" descr="REANNZ_logo_NZ white_RGB.ai">
            <a:extLst>
              <a:ext uri="{FF2B5EF4-FFF2-40B4-BE49-F238E27FC236}">
                <a16:creationId xmlns:a16="http://schemas.microsoft.com/office/drawing/2014/main" id="{7CBB58FB-0DE9-4F4D-938D-97658AD659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018" y="5891025"/>
            <a:ext cx="1864995" cy="778335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D67BCDE-43A6-3241-AEF4-6D3543B3FE7B}"/>
              </a:ext>
            </a:extLst>
          </p:cNvPr>
          <p:cNvCxnSpPr>
            <a:cxnSpLocks/>
          </p:cNvCxnSpPr>
          <p:nvPr/>
        </p:nvCxnSpPr>
        <p:spPr>
          <a:xfrm>
            <a:off x="734590" y="4740017"/>
            <a:ext cx="848808" cy="0"/>
          </a:xfrm>
          <a:prstGeom prst="line">
            <a:avLst/>
          </a:prstGeom>
          <a:ln w="161925" cap="rnd">
            <a:solidFill>
              <a:schemeClr val="bg1">
                <a:alpha val="1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1034801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99C79CF-B5D0-9447-BB6F-3A3D6A97133E}"/>
              </a:ext>
            </a:extLst>
          </p:cNvPr>
          <p:cNvGrpSpPr/>
          <p:nvPr/>
        </p:nvGrpSpPr>
        <p:grpSpPr>
          <a:xfrm>
            <a:off x="911424" y="1556792"/>
            <a:ext cx="10071452" cy="893184"/>
            <a:chOff x="558730" y="983170"/>
            <a:chExt cx="8427999" cy="771797"/>
          </a:xfrm>
        </p:grpSpPr>
        <p:pic>
          <p:nvPicPr>
            <p:cNvPr id="38" name="Picture 3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9E983BBC-9601-D448-8CCB-3E8EC1D89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8730" y="1120400"/>
              <a:ext cx="639084" cy="453406"/>
            </a:xfrm>
            <a:prstGeom prst="rect">
              <a:avLst/>
            </a:prstGeom>
          </p:spPr>
        </p:pic>
        <p:pic>
          <p:nvPicPr>
            <p:cNvPr id="39" name="Picture 38" descr="A picture containing food&#10;&#10;Description automatically generated">
              <a:extLst>
                <a:ext uri="{FF2B5EF4-FFF2-40B4-BE49-F238E27FC236}">
                  <a16:creationId xmlns:a16="http://schemas.microsoft.com/office/drawing/2014/main" id="{A3261FA3-C781-9441-96D9-2008285C07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75192" y="1045572"/>
              <a:ext cx="534178" cy="694219"/>
            </a:xfrm>
            <a:prstGeom prst="rect">
              <a:avLst/>
            </a:prstGeom>
          </p:spPr>
        </p:pic>
        <p:pic>
          <p:nvPicPr>
            <p:cNvPr id="40" name="Picture 39" descr="A close up of a logo&#10;&#10;Description automatically generated">
              <a:extLst>
                <a:ext uri="{FF2B5EF4-FFF2-40B4-BE49-F238E27FC236}">
                  <a16:creationId xmlns:a16="http://schemas.microsoft.com/office/drawing/2014/main" id="{B7C12EB0-FE78-5745-9642-8C0DFB45A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89338" y="1117541"/>
              <a:ext cx="1358054" cy="430813"/>
            </a:xfrm>
            <a:prstGeom prst="rect">
              <a:avLst/>
            </a:prstGeom>
          </p:spPr>
        </p:pic>
        <p:pic>
          <p:nvPicPr>
            <p:cNvPr id="41" name="Picture 40" descr="A picture containing food&#10;&#10;Description automatically generated">
              <a:extLst>
                <a:ext uri="{FF2B5EF4-FFF2-40B4-BE49-F238E27FC236}">
                  <a16:creationId xmlns:a16="http://schemas.microsoft.com/office/drawing/2014/main" id="{3B03AC3A-ED4D-694B-97CC-F4BF8517A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43095" y="983170"/>
              <a:ext cx="886710" cy="771797"/>
            </a:xfrm>
            <a:prstGeom prst="rect">
              <a:avLst/>
            </a:prstGeom>
          </p:spPr>
        </p:pic>
        <p:pic>
          <p:nvPicPr>
            <p:cNvPr id="42" name="Picture 41" descr="A close up of a logo&#10;&#10;Description automatically generated">
              <a:extLst>
                <a:ext uri="{FF2B5EF4-FFF2-40B4-BE49-F238E27FC236}">
                  <a16:creationId xmlns:a16="http://schemas.microsoft.com/office/drawing/2014/main" id="{7D645DD4-6C76-894E-93B6-449BB39D4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97135" y="1128288"/>
              <a:ext cx="1358054" cy="454738"/>
            </a:xfrm>
            <a:prstGeom prst="rect">
              <a:avLst/>
            </a:prstGeom>
          </p:spPr>
        </p:pic>
        <p:pic>
          <p:nvPicPr>
            <p:cNvPr id="43" name="Picture 42" descr="A close up of a logo&#10;&#10;Description automatically generated">
              <a:extLst>
                <a:ext uri="{FF2B5EF4-FFF2-40B4-BE49-F238E27FC236}">
                  <a16:creationId xmlns:a16="http://schemas.microsoft.com/office/drawing/2014/main" id="{5DBF1CD9-56C7-9F4C-BED0-83EE022188E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11885" y="1105891"/>
              <a:ext cx="1087957" cy="467005"/>
            </a:xfrm>
            <a:prstGeom prst="rect">
              <a:avLst/>
            </a:prstGeom>
          </p:spPr>
        </p:pic>
        <p:pic>
          <p:nvPicPr>
            <p:cNvPr id="44" name="Picture 43" descr="A close up of a sign&#10;&#10;Description automatically generated">
              <a:extLst>
                <a:ext uri="{FF2B5EF4-FFF2-40B4-BE49-F238E27FC236}">
                  <a16:creationId xmlns:a16="http://schemas.microsoft.com/office/drawing/2014/main" id="{4C63784F-E152-C048-B3B2-4A695524CC0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487499" y="1034388"/>
              <a:ext cx="805687" cy="694219"/>
            </a:xfrm>
            <a:prstGeom prst="rect">
              <a:avLst/>
            </a:prstGeom>
          </p:spPr>
        </p:pic>
        <p:pic>
          <p:nvPicPr>
            <p:cNvPr id="45" name="Picture 44" descr="A close up of a sign&#10;&#10;Description automatically generated">
              <a:extLst>
                <a:ext uri="{FF2B5EF4-FFF2-40B4-BE49-F238E27FC236}">
                  <a16:creationId xmlns:a16="http://schemas.microsoft.com/office/drawing/2014/main" id="{B61FD6BE-81D8-1148-B8A4-4374E085F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993962" y="1080253"/>
              <a:ext cx="992767" cy="455745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5D09AF4-F5A4-6644-8C79-4B79AD3C9550}"/>
              </a:ext>
            </a:extLst>
          </p:cNvPr>
          <p:cNvGrpSpPr/>
          <p:nvPr/>
        </p:nvGrpSpPr>
        <p:grpSpPr>
          <a:xfrm>
            <a:off x="930514" y="4743537"/>
            <a:ext cx="9918561" cy="859351"/>
            <a:chOff x="558730" y="4516135"/>
            <a:chExt cx="9912800" cy="908104"/>
          </a:xfrm>
        </p:grpSpPr>
        <p:pic>
          <p:nvPicPr>
            <p:cNvPr id="29" name="Picture 28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74C74CE2-5D8C-CF41-9B14-A944045C67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58730" y="4575555"/>
              <a:ext cx="902206" cy="822711"/>
            </a:xfrm>
            <a:prstGeom prst="rect">
              <a:avLst/>
            </a:prstGeom>
          </p:spPr>
        </p:pic>
        <p:pic>
          <p:nvPicPr>
            <p:cNvPr id="30" name="Picture 29" descr="A close up of a logo&#10;&#10;Description automatically generated">
              <a:extLst>
                <a:ext uri="{FF2B5EF4-FFF2-40B4-BE49-F238E27FC236}">
                  <a16:creationId xmlns:a16="http://schemas.microsoft.com/office/drawing/2014/main" id="{F1A3C3BF-930F-FF4B-98E7-ADBB7AC026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640620" y="4628668"/>
              <a:ext cx="610956" cy="795571"/>
            </a:xfrm>
            <a:prstGeom prst="rect">
              <a:avLst/>
            </a:prstGeom>
          </p:spPr>
        </p:pic>
        <p:pic>
          <p:nvPicPr>
            <p:cNvPr id="31" name="Picture 30" descr="A close up of a logo&#10;&#10;Description automatically generated">
              <a:extLst>
                <a:ext uri="{FF2B5EF4-FFF2-40B4-BE49-F238E27FC236}">
                  <a16:creationId xmlns:a16="http://schemas.microsoft.com/office/drawing/2014/main" id="{6F844DD3-46ED-B948-89D1-4CF925DB6B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418589" y="4637896"/>
              <a:ext cx="1082482" cy="687244"/>
            </a:xfrm>
            <a:prstGeom prst="rect">
              <a:avLst/>
            </a:prstGeom>
          </p:spPr>
        </p:pic>
        <p:pic>
          <p:nvPicPr>
            <p:cNvPr id="32" name="Picture 31" descr="A close up of a sign&#10;&#10;Description automatically generated">
              <a:extLst>
                <a:ext uri="{FF2B5EF4-FFF2-40B4-BE49-F238E27FC236}">
                  <a16:creationId xmlns:a16="http://schemas.microsoft.com/office/drawing/2014/main" id="{BA5A6893-C0A8-304D-8144-DCDAE9D35A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406485" y="4707113"/>
              <a:ext cx="902206" cy="484585"/>
            </a:xfrm>
            <a:prstGeom prst="rect">
              <a:avLst/>
            </a:prstGeom>
          </p:spPr>
        </p:pic>
        <p:pic>
          <p:nvPicPr>
            <p:cNvPr id="33" name="Picture 32" descr="A close up of a sign&#10;&#10;Description automatically generated">
              <a:extLst>
                <a:ext uri="{FF2B5EF4-FFF2-40B4-BE49-F238E27FC236}">
                  <a16:creationId xmlns:a16="http://schemas.microsoft.com/office/drawing/2014/main" id="{9331932C-0104-0E4D-AF9F-765873B90D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481315" y="4637896"/>
              <a:ext cx="701891" cy="655370"/>
            </a:xfrm>
            <a:prstGeom prst="rect">
              <a:avLst/>
            </a:prstGeom>
          </p:spPr>
        </p:pic>
        <p:pic>
          <p:nvPicPr>
            <p:cNvPr id="34" name="Picture 33" descr="A drawing of a face&#10;&#10;Description automatically generated">
              <a:extLst>
                <a:ext uri="{FF2B5EF4-FFF2-40B4-BE49-F238E27FC236}">
                  <a16:creationId xmlns:a16="http://schemas.microsoft.com/office/drawing/2014/main" id="{363E5AFA-7830-1042-8E76-CB0D4F2E2F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813828" y="4516135"/>
              <a:ext cx="657702" cy="710362"/>
            </a:xfrm>
            <a:prstGeom prst="rect">
              <a:avLst/>
            </a:prstGeom>
          </p:spPr>
        </p:pic>
        <p:pic>
          <p:nvPicPr>
            <p:cNvPr id="35" name="Picture 34" descr="A close up of a sign&#10;&#10;Description automatically generated">
              <a:extLst>
                <a:ext uri="{FF2B5EF4-FFF2-40B4-BE49-F238E27FC236}">
                  <a16:creationId xmlns:a16="http://schemas.microsoft.com/office/drawing/2014/main" id="{52DAC80A-7566-D649-A0E9-A8B956BBB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499456" y="4765575"/>
              <a:ext cx="1129360" cy="347941"/>
            </a:xfrm>
            <a:prstGeom prst="rect">
              <a:avLst/>
            </a:prstGeom>
          </p:spPr>
        </p:pic>
        <p:pic>
          <p:nvPicPr>
            <p:cNvPr id="36" name="Picture 35" descr="A drawing of a face&#10;&#10;Description automatically generated">
              <a:extLst>
                <a:ext uri="{FF2B5EF4-FFF2-40B4-BE49-F238E27FC236}">
                  <a16:creationId xmlns:a16="http://schemas.microsoft.com/office/drawing/2014/main" id="{BA35908D-61A6-E549-98E0-0DBFB9CF5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681150" y="4765575"/>
              <a:ext cx="1576887" cy="377633"/>
            </a:xfrm>
            <a:prstGeom prst="rect">
              <a:avLst/>
            </a:prstGeom>
          </p:spPr>
        </p:pic>
        <p:pic>
          <p:nvPicPr>
            <p:cNvPr id="37" name="Picture 36" descr="A picture containing food, drawing&#10;&#10;Description automatically generated">
              <a:extLst>
                <a:ext uri="{FF2B5EF4-FFF2-40B4-BE49-F238E27FC236}">
                  <a16:creationId xmlns:a16="http://schemas.microsoft.com/office/drawing/2014/main" id="{0BFEFB00-1A67-4643-A057-482E6CFA5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437335" y="4674290"/>
              <a:ext cx="887574" cy="655370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76188EE-578D-1E43-94F8-1505ED059CB4}"/>
              </a:ext>
            </a:extLst>
          </p:cNvPr>
          <p:cNvGrpSpPr/>
          <p:nvPr/>
        </p:nvGrpSpPr>
        <p:grpSpPr>
          <a:xfrm>
            <a:off x="895516" y="2713644"/>
            <a:ext cx="10320683" cy="774796"/>
            <a:chOff x="996103" y="2588317"/>
            <a:chExt cx="10320683" cy="774796"/>
          </a:xfrm>
        </p:grpSpPr>
        <p:pic>
          <p:nvPicPr>
            <p:cNvPr id="22" name="Picture 21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40521F2E-1B92-0146-B707-EC632B48E5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8544511" y="2797496"/>
              <a:ext cx="1272515" cy="363577"/>
            </a:xfrm>
            <a:prstGeom prst="rect">
              <a:avLst/>
            </a:prstGeom>
          </p:spPr>
        </p:pic>
        <p:pic>
          <p:nvPicPr>
            <p:cNvPr id="23" name="Picture 22" descr="A picture containing food, drawing&#10;&#10;Description automatically generated">
              <a:extLst>
                <a:ext uri="{FF2B5EF4-FFF2-40B4-BE49-F238E27FC236}">
                  <a16:creationId xmlns:a16="http://schemas.microsoft.com/office/drawing/2014/main" id="{1961E3D3-83FE-214A-983D-6DF31FC314B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/>
            <a:srcRect l="18822" t="7160" r="19760" b="7160"/>
            <a:stretch/>
          </p:blipFill>
          <p:spPr>
            <a:xfrm>
              <a:off x="3597756" y="2588317"/>
              <a:ext cx="567698" cy="774796"/>
            </a:xfrm>
            <a:prstGeom prst="rect">
              <a:avLst/>
            </a:prstGeom>
          </p:spPr>
        </p:pic>
        <p:pic>
          <p:nvPicPr>
            <p:cNvPr id="24" name="Picture 23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B4F1E0FC-2BC6-2840-BF58-66E8A312E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2484337" y="2733482"/>
              <a:ext cx="1099180" cy="403265"/>
            </a:xfrm>
            <a:prstGeom prst="rect">
              <a:avLst/>
            </a:prstGeom>
          </p:spPr>
        </p:pic>
        <p:pic>
          <p:nvPicPr>
            <p:cNvPr id="25" name="Picture 2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AD908580-757C-7A4B-B33E-649A0A61AB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996103" y="2716247"/>
              <a:ext cx="1398397" cy="364289"/>
            </a:xfrm>
            <a:prstGeom prst="rect">
              <a:avLst/>
            </a:prstGeom>
          </p:spPr>
        </p:pic>
        <p:pic>
          <p:nvPicPr>
            <p:cNvPr id="26" name="Picture 25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E68094C8-3DD7-EA4C-97AF-4408300B9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5671958" y="2719072"/>
              <a:ext cx="1293733" cy="448272"/>
            </a:xfrm>
            <a:prstGeom prst="rect">
              <a:avLst/>
            </a:prstGeom>
          </p:spPr>
        </p:pic>
        <p:pic>
          <p:nvPicPr>
            <p:cNvPr id="27" name="Picture 26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6410F33F-D106-E343-9DD2-1AE9723CD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7016788" y="2688671"/>
              <a:ext cx="1423537" cy="502534"/>
            </a:xfrm>
            <a:prstGeom prst="rect">
              <a:avLst/>
            </a:prstGeom>
          </p:spPr>
        </p:pic>
        <p:pic>
          <p:nvPicPr>
            <p:cNvPr id="28" name="Picture 2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FD3C930E-825F-BE41-AC92-0259FC647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200024" y="2716247"/>
              <a:ext cx="1333193" cy="424517"/>
            </a:xfrm>
            <a:prstGeom prst="rect">
              <a:avLst/>
            </a:prstGeom>
          </p:spPr>
        </p:pic>
        <p:pic>
          <p:nvPicPr>
            <p:cNvPr id="18" name="Picture 17" descr="A close up of a logo&#10;&#10;Description automatically generated">
              <a:extLst>
                <a:ext uri="{FF2B5EF4-FFF2-40B4-BE49-F238E27FC236}">
                  <a16:creationId xmlns:a16="http://schemas.microsoft.com/office/drawing/2014/main" id="{C5948F49-03A9-1045-8EAA-427AE5051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9988637" y="2789797"/>
              <a:ext cx="1328149" cy="306822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A45F250-33C8-5B4B-959D-63DB92D67ED8}"/>
              </a:ext>
            </a:extLst>
          </p:cNvPr>
          <p:cNvGrpSpPr/>
          <p:nvPr/>
        </p:nvGrpSpPr>
        <p:grpSpPr>
          <a:xfrm>
            <a:off x="911424" y="3856981"/>
            <a:ext cx="8589801" cy="531150"/>
            <a:chOff x="966518" y="3937575"/>
            <a:chExt cx="8589801" cy="531150"/>
          </a:xfrm>
        </p:grpSpPr>
        <p:pic>
          <p:nvPicPr>
            <p:cNvPr id="7" name="Picture 6" descr="A picture containing drawing, table&#10;&#10;Description automatically generated">
              <a:extLst>
                <a:ext uri="{FF2B5EF4-FFF2-40B4-BE49-F238E27FC236}">
                  <a16:creationId xmlns:a16="http://schemas.microsoft.com/office/drawing/2014/main" id="{A56BA73E-12F8-684B-ACA9-A08F92A27B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7"/>
            <a:srcRect l="15416" t="14862" r="18140" b="13765"/>
            <a:stretch/>
          </p:blipFill>
          <p:spPr>
            <a:xfrm>
              <a:off x="3502869" y="3937575"/>
              <a:ext cx="522831" cy="531150"/>
            </a:xfrm>
            <a:prstGeom prst="rect">
              <a:avLst/>
            </a:prstGeom>
          </p:spPr>
        </p:pic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5BB898C4-5F42-4140-AA80-FD3F8BA670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8"/>
            <a:srcRect l="11672" t="16114" r="13950" b="12007"/>
            <a:stretch/>
          </p:blipFill>
          <p:spPr>
            <a:xfrm>
              <a:off x="966518" y="3947961"/>
              <a:ext cx="1163922" cy="402291"/>
            </a:xfrm>
            <a:prstGeom prst="rect">
              <a:avLst/>
            </a:prstGeom>
          </p:spPr>
        </p:pic>
        <p:pic>
          <p:nvPicPr>
            <p:cNvPr id="10" name="Picture 9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1A8B8B4F-1C04-B742-B276-C3C6F066C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2212837" y="4003869"/>
              <a:ext cx="1095284" cy="401991"/>
            </a:xfrm>
            <a:prstGeom prst="rect">
              <a:avLst/>
            </a:prstGeom>
          </p:spPr>
        </p:pic>
        <p:pic>
          <p:nvPicPr>
            <p:cNvPr id="11" name="Picture 10" descr="A close up of a sign&#10;&#10;Description automatically generated">
              <a:extLst>
                <a:ext uri="{FF2B5EF4-FFF2-40B4-BE49-F238E27FC236}">
                  <a16:creationId xmlns:a16="http://schemas.microsoft.com/office/drawing/2014/main" id="{DBB54AED-C7B5-AB47-86A0-1F80F1663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5899270" y="4003289"/>
              <a:ext cx="618166" cy="462603"/>
            </a:xfrm>
            <a:prstGeom prst="rect">
              <a:avLst/>
            </a:prstGeom>
          </p:spPr>
        </p:pic>
        <p:pic>
          <p:nvPicPr>
            <p:cNvPr id="13" name="Picture 12" descr="A close up of a logo&#10;&#10;Description automatically generated">
              <a:extLst>
                <a:ext uri="{FF2B5EF4-FFF2-40B4-BE49-F238E27FC236}">
                  <a16:creationId xmlns:a16="http://schemas.microsoft.com/office/drawing/2014/main" id="{2BC73A41-CF0B-BC48-9BD8-ED2047792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8447161" y="3998088"/>
              <a:ext cx="1109158" cy="462602"/>
            </a:xfrm>
            <a:prstGeom prst="rect">
              <a:avLst/>
            </a:prstGeom>
          </p:spPr>
        </p:pic>
        <p:pic>
          <p:nvPicPr>
            <p:cNvPr id="17" name="Picture 16" descr="A picture containing bird, flower&#10;&#10;Description automatically generated">
              <a:extLst>
                <a:ext uri="{FF2B5EF4-FFF2-40B4-BE49-F238E27FC236}">
                  <a16:creationId xmlns:a16="http://schemas.microsoft.com/office/drawing/2014/main" id="{08E5050C-4F95-8445-887E-915A49AE88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2"/>
            <a:srcRect l="7801" t="41051" r="6356" b="40932"/>
            <a:stretch/>
          </p:blipFill>
          <p:spPr>
            <a:xfrm>
              <a:off x="6706307" y="4052575"/>
              <a:ext cx="1626682" cy="364029"/>
            </a:xfrm>
            <a:prstGeom prst="rect">
              <a:avLst/>
            </a:prstGeom>
          </p:spPr>
        </p:pic>
        <p:pic>
          <p:nvPicPr>
            <p:cNvPr id="20" name="Picture 19" descr="A picture containing clock&#10;&#10;Description automatically generated">
              <a:extLst>
                <a:ext uri="{FF2B5EF4-FFF2-40B4-BE49-F238E27FC236}">
                  <a16:creationId xmlns:a16="http://schemas.microsoft.com/office/drawing/2014/main" id="{D1F7292B-BC04-0E40-BB31-4A98CACDE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4352727" y="3982614"/>
              <a:ext cx="1423774" cy="398705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9BC38BC-B3E2-D04D-AF58-14225C9B0E14}"/>
              </a:ext>
            </a:extLst>
          </p:cNvPr>
          <p:cNvGrpSpPr/>
          <p:nvPr/>
        </p:nvGrpSpPr>
        <p:grpSpPr>
          <a:xfrm>
            <a:off x="934695" y="5975093"/>
            <a:ext cx="8333730" cy="739930"/>
            <a:chOff x="1059772" y="6067137"/>
            <a:chExt cx="8333730" cy="739930"/>
          </a:xfrm>
        </p:grpSpPr>
        <p:pic>
          <p:nvPicPr>
            <p:cNvPr id="9" name="Picture 8" descr="A close up of a sign&#10;&#10;Description automatically generated">
              <a:extLst>
                <a:ext uri="{FF2B5EF4-FFF2-40B4-BE49-F238E27FC236}">
                  <a16:creationId xmlns:a16="http://schemas.microsoft.com/office/drawing/2014/main" id="{AD9206A9-32DB-9E47-8D03-198B570C5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1059772" y="6209001"/>
              <a:ext cx="814360" cy="416844"/>
            </a:xfrm>
            <a:prstGeom prst="rect">
              <a:avLst/>
            </a:prstGeom>
          </p:spPr>
        </p:pic>
        <p:pic>
          <p:nvPicPr>
            <p:cNvPr id="12" name="Picture 11" descr="A close up of a logo&#10;&#10;Description automatically generated">
              <a:extLst>
                <a:ext uri="{FF2B5EF4-FFF2-40B4-BE49-F238E27FC236}">
                  <a16:creationId xmlns:a16="http://schemas.microsoft.com/office/drawing/2014/main" id="{9634BFC0-A163-1C46-85DE-09E4790E50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3325247" y="6302100"/>
              <a:ext cx="1722311" cy="351973"/>
            </a:xfrm>
            <a:prstGeom prst="rect">
              <a:avLst/>
            </a:prstGeom>
          </p:spPr>
        </p:pic>
        <p:pic>
          <p:nvPicPr>
            <p:cNvPr id="15" name="Picture 14" descr="A close up of a logo&#10;&#10;Description automatically generated">
              <a:extLst>
                <a:ext uri="{FF2B5EF4-FFF2-40B4-BE49-F238E27FC236}">
                  <a16:creationId xmlns:a16="http://schemas.microsoft.com/office/drawing/2014/main" id="{CE111291-E54E-B44D-BC63-208338A56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6835199" y="6231690"/>
              <a:ext cx="1407432" cy="468956"/>
            </a:xfrm>
            <a:prstGeom prst="rect">
              <a:avLst/>
            </a:prstGeom>
          </p:spPr>
        </p:pic>
        <p:pic>
          <p:nvPicPr>
            <p:cNvPr id="16" name="Picture 15" descr="A picture containing bird&#10;&#10;Description automatically generated">
              <a:extLst>
                <a:ext uri="{FF2B5EF4-FFF2-40B4-BE49-F238E27FC236}">
                  <a16:creationId xmlns:a16="http://schemas.microsoft.com/office/drawing/2014/main" id="{E0CA8B23-C43B-6A45-ABD9-B84DA6409B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7"/>
            <a:srcRect l="7476" t="21651" r="7476" b="17000"/>
            <a:stretch/>
          </p:blipFill>
          <p:spPr>
            <a:xfrm>
              <a:off x="8431466" y="6067137"/>
              <a:ext cx="962036" cy="739930"/>
            </a:xfrm>
            <a:prstGeom prst="rect">
              <a:avLst/>
            </a:prstGeom>
          </p:spPr>
        </p:pic>
        <p:pic>
          <p:nvPicPr>
            <p:cNvPr id="19" name="Picture 18" descr="A close up of a logo&#10;&#10;Description automatically generated">
              <a:extLst>
                <a:ext uri="{FF2B5EF4-FFF2-40B4-BE49-F238E27FC236}">
                  <a16:creationId xmlns:a16="http://schemas.microsoft.com/office/drawing/2014/main" id="{6B41D007-1B8D-B540-9533-0385D21ED5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8"/>
            <a:srcRect l="8495" t="17425" r="6973" b="10849"/>
            <a:stretch/>
          </p:blipFill>
          <p:spPr>
            <a:xfrm>
              <a:off x="2119672" y="6205802"/>
              <a:ext cx="1112174" cy="462602"/>
            </a:xfrm>
            <a:prstGeom prst="rect">
              <a:avLst/>
            </a:prstGeom>
          </p:spPr>
        </p:pic>
        <p:pic>
          <p:nvPicPr>
            <p:cNvPr id="21" name="Picture 20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15A6BEC1-6CCB-7041-AFAD-87D36965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5217417" y="6230691"/>
              <a:ext cx="1423775" cy="494788"/>
            </a:xfrm>
            <a:prstGeom prst="rect">
              <a:avLst/>
            </a:prstGeom>
          </p:spPr>
        </p:pic>
      </p:grpSp>
      <p:sp>
        <p:nvSpPr>
          <p:cNvPr id="46" name="Title 3">
            <a:extLst>
              <a:ext uri="{FF2B5EF4-FFF2-40B4-BE49-F238E27FC236}">
                <a16:creationId xmlns:a16="http://schemas.microsoft.com/office/drawing/2014/main" id="{77B7F4AF-0ADF-E241-B6A1-03BC4D4F6A37}"/>
              </a:ext>
            </a:extLst>
          </p:cNvPr>
          <p:cNvSpPr txBox="1">
            <a:spLocks/>
          </p:cNvSpPr>
          <p:nvPr/>
        </p:nvSpPr>
        <p:spPr>
          <a:xfrm>
            <a:off x="551384" y="620688"/>
            <a:ext cx="8153400" cy="77220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00ADE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Members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94310C2-EC58-BF4F-BA0F-A7226E0B752C}"/>
              </a:ext>
            </a:extLst>
          </p:cNvPr>
          <p:cNvSpPr txBox="1"/>
          <p:nvPr/>
        </p:nvSpPr>
        <p:spPr>
          <a:xfrm>
            <a:off x="808783" y="1320882"/>
            <a:ext cx="1263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>
                <a:solidFill>
                  <a:srgbClr val="00B9E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Universities</a:t>
            </a:r>
            <a:endParaRPr lang="en-US" b="1">
              <a:solidFill>
                <a:srgbClr val="00B9E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D589BCD-7C57-9841-BC3D-92D61EC345B6}"/>
              </a:ext>
            </a:extLst>
          </p:cNvPr>
          <p:cNvSpPr txBox="1"/>
          <p:nvPr/>
        </p:nvSpPr>
        <p:spPr>
          <a:xfrm>
            <a:off x="840067" y="2402992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>
                <a:solidFill>
                  <a:srgbClr val="00B9E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CRIs</a:t>
            </a:r>
            <a:endParaRPr lang="en-US" b="1">
              <a:solidFill>
                <a:srgbClr val="00B9E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1E1D2DA-2D61-F44E-AE00-E97E94CDC3BA}"/>
              </a:ext>
            </a:extLst>
          </p:cNvPr>
          <p:cNvSpPr txBox="1"/>
          <p:nvPr/>
        </p:nvSpPr>
        <p:spPr>
          <a:xfrm>
            <a:off x="837260" y="3493258"/>
            <a:ext cx="3535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>
                <a:solidFill>
                  <a:srgbClr val="00B9E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Independent research organisations</a:t>
            </a:r>
            <a:endParaRPr lang="en-US" b="1">
              <a:solidFill>
                <a:srgbClr val="00B9E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C64A794-9934-1241-AD53-D818D9DB6BE2}"/>
              </a:ext>
            </a:extLst>
          </p:cNvPr>
          <p:cNvSpPr txBox="1"/>
          <p:nvPr/>
        </p:nvSpPr>
        <p:spPr>
          <a:xfrm>
            <a:off x="895516" y="4434379"/>
            <a:ext cx="1886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>
                <a:solidFill>
                  <a:srgbClr val="00B9E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ITPs and Wānanga</a:t>
            </a:r>
            <a:endParaRPr lang="en-US" b="1">
              <a:solidFill>
                <a:srgbClr val="00B9E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422FCDD-6A1E-4A49-B7DE-E381816585C1}"/>
              </a:ext>
            </a:extLst>
          </p:cNvPr>
          <p:cNvSpPr txBox="1"/>
          <p:nvPr/>
        </p:nvSpPr>
        <p:spPr>
          <a:xfrm>
            <a:off x="837260" y="5739628"/>
            <a:ext cx="1146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>
                <a:solidFill>
                  <a:srgbClr val="00B9E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Associates</a:t>
            </a:r>
            <a:endParaRPr lang="en-US" b="1">
              <a:solidFill>
                <a:srgbClr val="00B9E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639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close up of a map&#10;&#10;Description automatically generated">
            <a:extLst>
              <a:ext uri="{FF2B5EF4-FFF2-40B4-BE49-F238E27FC236}">
                <a16:creationId xmlns:a16="http://schemas.microsoft.com/office/drawing/2014/main" id="{AD5BD137-1D5A-EB43-BB93-1B4334CF4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52" y="332655"/>
            <a:ext cx="11408616" cy="619269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EBC7974-970B-C243-A533-2835A24652A1}"/>
              </a:ext>
            </a:extLst>
          </p:cNvPr>
          <p:cNvGrpSpPr/>
          <p:nvPr/>
        </p:nvGrpSpPr>
        <p:grpSpPr>
          <a:xfrm>
            <a:off x="391691" y="116632"/>
            <a:ext cx="11408616" cy="6192690"/>
            <a:chOff x="391691" y="116632"/>
            <a:chExt cx="11408616" cy="619269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BAED2B7-A125-954F-80D5-BB1C6B2B2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391691" y="116632"/>
              <a:ext cx="11408616" cy="619269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8554E00-1B40-7F4E-9AD8-4581C51C09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391692" y="116632"/>
              <a:ext cx="11408615" cy="619269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4D34132-FB56-C640-ADA5-40E8DA732E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391692" y="116632"/>
              <a:ext cx="11408615" cy="619268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2DB6FA0-28BE-8F45-9BB8-EB27FED43B8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391693" y="116632"/>
              <a:ext cx="11408613" cy="619268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49C951C-8C0F-6A47-8BAC-4D1303211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391693" y="116632"/>
              <a:ext cx="11408613" cy="6192688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1F6C3365-D9DC-7C4C-B896-A663A8A2454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04037" y="332654"/>
            <a:ext cx="11408611" cy="619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56753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61AE97-A259-193F-3F5D-EFC82212B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960" y="0"/>
            <a:ext cx="53380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87926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BF3FD-C758-3D33-AF25-E5865E7EC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00BE850A-DA41-23F3-3687-5BCC3A97E09F}"/>
              </a:ext>
            </a:extLst>
          </p:cNvPr>
          <p:cNvSpPr txBox="1">
            <a:spLocks/>
          </p:cNvSpPr>
          <p:nvPr/>
        </p:nvSpPr>
        <p:spPr>
          <a:xfrm>
            <a:off x="551384" y="1528423"/>
            <a:ext cx="5623640" cy="127753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 defTabSz="457200" rtl="0" eaLnBrk="1" latinLnBrk="0" hangingPunct="1">
              <a:lnSpc>
                <a:spcPts val="2500"/>
              </a:lnSpc>
              <a:spcBef>
                <a:spcPts val="0"/>
              </a:spcBef>
              <a:buFont typeface="Arial"/>
              <a:buNone/>
              <a:defRPr sz="2600" kern="1200" cap="all">
                <a:solidFill>
                  <a:schemeClr val="bg1"/>
                </a:solidFill>
                <a:latin typeface="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tx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6C4FAD-F17B-41D1-50D9-E27134E152D0}"/>
              </a:ext>
            </a:extLst>
          </p:cNvPr>
          <p:cNvSpPr/>
          <p:nvPr/>
        </p:nvSpPr>
        <p:spPr>
          <a:xfrm>
            <a:off x="2234927" y="2921733"/>
            <a:ext cx="4051610" cy="17679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41CF129B-B09B-73A5-776C-90FE32FBFC3D}"/>
              </a:ext>
            </a:extLst>
          </p:cNvPr>
          <p:cNvSpPr txBox="1">
            <a:spLocks/>
          </p:cNvSpPr>
          <p:nvPr/>
        </p:nvSpPr>
        <p:spPr>
          <a:xfrm>
            <a:off x="551384" y="620688"/>
            <a:ext cx="8153400" cy="77220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ADE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What is a Reaction Mechanism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E814EF-C1ED-716B-BF27-06D4C1B9FFCF}"/>
              </a:ext>
            </a:extLst>
          </p:cNvPr>
          <p:cNvSpPr/>
          <p:nvPr/>
        </p:nvSpPr>
        <p:spPr>
          <a:xfrm>
            <a:off x="6881559" y="2391683"/>
            <a:ext cx="3646450" cy="27009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707BAE-B51B-248E-24DD-FFA7576701ED}"/>
              </a:ext>
            </a:extLst>
          </p:cNvPr>
          <p:cNvSpPr txBox="1"/>
          <p:nvPr/>
        </p:nvSpPr>
        <p:spPr>
          <a:xfrm>
            <a:off x="574794" y="1925183"/>
            <a:ext cx="7969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Describes the steps of how a reaction works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959487-CA0D-0FD2-E0B3-CBFC27363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406" y="2981205"/>
            <a:ext cx="3743158" cy="16492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F41C13-0B52-E21E-927B-5C3687041B5F}"/>
              </a:ext>
            </a:extLst>
          </p:cNvPr>
          <p:cNvSpPr txBox="1"/>
          <p:nvPr/>
        </p:nvSpPr>
        <p:spPr>
          <a:xfrm>
            <a:off x="3345585" y="4749146"/>
            <a:ext cx="1806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Example: S</a:t>
            </a:r>
            <a:r>
              <a:rPr lang="en-US" sz="1200" baseline="-25000" dirty="0"/>
              <a:t>N</a:t>
            </a:r>
            <a:r>
              <a:rPr lang="en-US" sz="1200" dirty="0"/>
              <a:t>1 mechanism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174738-FDBF-6894-EBB0-B1F3DEF07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072" y="2580391"/>
            <a:ext cx="3352800" cy="2286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72A916D-4E53-FED6-30A9-8238E1F8F489}"/>
              </a:ext>
            </a:extLst>
          </p:cNvPr>
          <p:cNvSpPr txBox="1"/>
          <p:nvPr/>
        </p:nvSpPr>
        <p:spPr>
          <a:xfrm>
            <a:off x="7567196" y="5142817"/>
            <a:ext cx="2275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Energy Profile of S</a:t>
            </a:r>
            <a:r>
              <a:rPr lang="en-US" sz="1200" baseline="-25000" dirty="0"/>
              <a:t>N</a:t>
            </a:r>
            <a:r>
              <a:rPr lang="en-US" sz="1200" dirty="0"/>
              <a:t>1 mechanism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5EC364-D279-128E-F092-612C3FA7AE8D}"/>
              </a:ext>
            </a:extLst>
          </p:cNvPr>
          <p:cNvSpPr txBox="1"/>
          <p:nvPr/>
        </p:nvSpPr>
        <p:spPr>
          <a:xfrm>
            <a:off x="2676185" y="5646544"/>
            <a:ext cx="6839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Goal: </a:t>
            </a:r>
            <a:r>
              <a:rPr lang="en-US" dirty="0"/>
              <a:t>To obtain the </a:t>
            </a:r>
            <a:r>
              <a:rPr lang="en-US" b="1" dirty="0"/>
              <a:t>transition state energies</a:t>
            </a:r>
            <a:r>
              <a:rPr lang="en-US" dirty="0"/>
              <a:t> for each mechanistic step</a:t>
            </a:r>
          </a:p>
        </p:txBody>
      </p:sp>
    </p:spTree>
    <p:extLst>
      <p:ext uri="{BB962C8B-B14F-4D97-AF65-F5344CB8AC3E}">
        <p14:creationId xmlns:p14="http://schemas.microsoft.com/office/powerpoint/2010/main" val="1395725060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B8BEC-8112-D5F4-B9B2-24DAC7FD1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5CF3318-F8F2-2557-A6FB-1A699C6BB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601" y="3064026"/>
            <a:ext cx="2989596" cy="12775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451357-7750-7DFF-65F9-986322DB4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409" y="4522519"/>
            <a:ext cx="6129454" cy="9404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2C47553-DD29-DBBD-73C1-B2B0744177F4}"/>
              </a:ext>
            </a:extLst>
          </p:cNvPr>
          <p:cNvSpPr txBox="1"/>
          <p:nvPr/>
        </p:nvSpPr>
        <p:spPr>
          <a:xfrm>
            <a:off x="4398863" y="3996106"/>
            <a:ext cx="22525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Schrödinger equation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483F49-96BA-54F5-A587-1B8AB67E4A49}"/>
              </a:ext>
            </a:extLst>
          </p:cNvPr>
          <p:cNvSpPr txBox="1"/>
          <p:nvPr/>
        </p:nvSpPr>
        <p:spPr>
          <a:xfrm>
            <a:off x="3845171" y="5454599"/>
            <a:ext cx="3313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Schrödinger equation implementation used in DFT</a:t>
            </a:r>
            <a:endParaRPr lang="en-US" sz="1200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FCBE966-0B93-B2C3-863E-C4202648308B}"/>
              </a:ext>
            </a:extLst>
          </p:cNvPr>
          <p:cNvSpPr txBox="1">
            <a:spLocks/>
          </p:cNvSpPr>
          <p:nvPr/>
        </p:nvSpPr>
        <p:spPr>
          <a:xfrm>
            <a:off x="551384" y="1528423"/>
            <a:ext cx="5623640" cy="127753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 defTabSz="457200" rtl="0" eaLnBrk="1" latinLnBrk="0" hangingPunct="1">
              <a:lnSpc>
                <a:spcPts val="2500"/>
              </a:lnSpc>
              <a:spcBef>
                <a:spcPts val="0"/>
              </a:spcBef>
              <a:buFont typeface="Arial"/>
              <a:buNone/>
              <a:defRPr sz="2600" kern="1200" cap="all">
                <a:solidFill>
                  <a:schemeClr val="bg1"/>
                </a:solidFill>
                <a:latin typeface="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tx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FFD96223-AC0D-5860-D9E6-C9C625D1B431}"/>
              </a:ext>
            </a:extLst>
          </p:cNvPr>
          <p:cNvSpPr txBox="1">
            <a:spLocks/>
          </p:cNvSpPr>
          <p:nvPr/>
        </p:nvSpPr>
        <p:spPr>
          <a:xfrm>
            <a:off x="551384" y="620688"/>
            <a:ext cx="10837728" cy="77220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ADE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obtain transition energies? ORCA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568333-7188-0B68-AE4F-9B4ADD7DA1E9}"/>
              </a:ext>
            </a:extLst>
          </p:cNvPr>
          <p:cNvSpPr txBox="1"/>
          <p:nvPr/>
        </p:nvSpPr>
        <p:spPr>
          <a:xfrm>
            <a:off x="574794" y="1925183"/>
            <a:ext cx="7969478" cy="1179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ORCA is a program designed to perform DFT calculations on molecules</a:t>
            </a:r>
          </a:p>
          <a:p>
            <a:pPr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What is DFT (Density Functional Theory)? 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way to approximately solve the Schrödinger equation for molecules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0393ECF-BF1E-FE31-D804-7F6FCBF19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0200" y="743415"/>
            <a:ext cx="377213" cy="377213"/>
          </a:xfrm>
          <a:prstGeom prst="rect">
            <a:avLst/>
          </a:prstGeom>
        </p:spPr>
      </p:pic>
      <p:pic>
        <p:nvPicPr>
          <p:cNvPr id="3" name="Picture 2" descr="A shark fin with dots and text&#10;&#10;AI-generated content may be incorrect.">
            <a:extLst>
              <a:ext uri="{FF2B5EF4-FFF2-40B4-BE49-F238E27FC236}">
                <a16:creationId xmlns:a16="http://schemas.microsoft.com/office/drawing/2014/main" id="{8C6B5EA3-0F1A-57C4-B086-7A70FFB89B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7007" y="1435762"/>
            <a:ext cx="4346385" cy="30177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66513537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80C02-3588-A66D-FED0-B5AF0E176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1C3F85E8-F6D2-F210-DF5D-B0D41147C8F7}"/>
              </a:ext>
            </a:extLst>
          </p:cNvPr>
          <p:cNvSpPr txBox="1">
            <a:spLocks/>
          </p:cNvSpPr>
          <p:nvPr/>
        </p:nvSpPr>
        <p:spPr>
          <a:xfrm>
            <a:off x="551383" y="620688"/>
            <a:ext cx="11495837" cy="77220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ADE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Investigating Mechanistic Steps: The General Idea</a:t>
            </a:r>
          </a:p>
        </p:txBody>
      </p:sp>
      <p:pic>
        <p:nvPicPr>
          <p:cNvPr id="4" name="Picture 4" descr="Figure 9.3">
            <a:extLst>
              <a:ext uri="{FF2B5EF4-FFF2-40B4-BE49-F238E27FC236}">
                <a16:creationId xmlns:a16="http://schemas.microsoft.com/office/drawing/2014/main" id="{8436C89B-7C70-EA21-F4C6-96ADEEAC2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123" y="2030935"/>
            <a:ext cx="5075863" cy="315586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6768B6-94B7-59F3-8122-E65365BE19D7}"/>
              </a:ext>
            </a:extLst>
          </p:cNvPr>
          <p:cNvSpPr txBox="1"/>
          <p:nvPr/>
        </p:nvSpPr>
        <p:spPr>
          <a:xfrm>
            <a:off x="3266007" y="5233091"/>
            <a:ext cx="54874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NZ" sz="900" dirty="0">
                <a:effectLst/>
                <a:latin typeface="Helvetica" pitchFamily="2" charset="0"/>
              </a:rPr>
              <a:t>Ouellette, R. J. and Rawn, J. D. (2018), </a:t>
            </a:r>
            <a:r>
              <a:rPr lang="en-NZ" sz="900" i="1" dirty="0">
                <a:effectLst/>
                <a:latin typeface="Helvetica" pitchFamily="2" charset="0"/>
              </a:rPr>
              <a:t>Haloalkanes and alcohols Nucleophilic Substitution and Elimination Reactions</a:t>
            </a:r>
            <a:r>
              <a:rPr lang="en-NZ" sz="900" dirty="0">
                <a:effectLst/>
                <a:latin typeface="Helvetica" pitchFamily="2" charset="0"/>
              </a:rPr>
              <a:t>, Elsevier, pp. 255--298.</a:t>
            </a:r>
          </a:p>
          <a:p>
            <a:pPr>
              <a:buNone/>
            </a:pPr>
            <a:br>
              <a:rPr lang="en-NZ" sz="900" dirty="0">
                <a:effectLst/>
                <a:latin typeface="Helvetica" pitchFamily="2" charset="0"/>
              </a:rPr>
            </a:br>
            <a:endParaRPr lang="en-NZ" sz="900" dirty="0">
              <a:effectLst/>
              <a:latin typeface="Helvetica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6C1680A-B17E-4A1F-83B3-D506B48633C1}"/>
              </a:ext>
            </a:extLst>
          </p:cNvPr>
          <p:cNvSpPr/>
          <p:nvPr/>
        </p:nvSpPr>
        <p:spPr>
          <a:xfrm>
            <a:off x="4598392" y="3631726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E52F123-CDC4-0375-B6D6-6738E1031D85}"/>
              </a:ext>
            </a:extLst>
          </p:cNvPr>
          <p:cNvSpPr/>
          <p:nvPr/>
        </p:nvSpPr>
        <p:spPr>
          <a:xfrm>
            <a:off x="4865092" y="3446728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A503FE3-A0BD-86EE-6B5B-C09715FE7CD6}"/>
              </a:ext>
            </a:extLst>
          </p:cNvPr>
          <p:cNvSpPr/>
          <p:nvPr/>
        </p:nvSpPr>
        <p:spPr>
          <a:xfrm>
            <a:off x="5023532" y="3146085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4A5D88-2AC6-5BBE-E9C5-71FC6BB6B485}"/>
              </a:ext>
            </a:extLst>
          </p:cNvPr>
          <p:cNvSpPr/>
          <p:nvPr/>
        </p:nvSpPr>
        <p:spPr>
          <a:xfrm>
            <a:off x="5168962" y="2845442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3012C74-2BE9-FCBF-8E96-7E469DC216B2}"/>
              </a:ext>
            </a:extLst>
          </p:cNvPr>
          <p:cNvSpPr/>
          <p:nvPr/>
        </p:nvSpPr>
        <p:spPr>
          <a:xfrm>
            <a:off x="5299802" y="2604784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2E987A-3936-9A90-6024-958523374717}"/>
              </a:ext>
            </a:extLst>
          </p:cNvPr>
          <p:cNvSpPr/>
          <p:nvPr/>
        </p:nvSpPr>
        <p:spPr>
          <a:xfrm>
            <a:off x="5501081" y="2500569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BDDD5C1-42F8-DA05-25F2-71E6E0BFCD14}"/>
              </a:ext>
            </a:extLst>
          </p:cNvPr>
          <p:cNvSpPr/>
          <p:nvPr/>
        </p:nvSpPr>
        <p:spPr>
          <a:xfrm>
            <a:off x="5710631" y="2595819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3624FF-5D69-A17A-6412-B9B2DBE95638}"/>
              </a:ext>
            </a:extLst>
          </p:cNvPr>
          <p:cNvSpPr/>
          <p:nvPr/>
        </p:nvSpPr>
        <p:spPr>
          <a:xfrm>
            <a:off x="5859221" y="2835849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9609EC3-1DA8-FED6-E694-E469547FEA16}"/>
              </a:ext>
            </a:extLst>
          </p:cNvPr>
          <p:cNvSpPr/>
          <p:nvPr/>
        </p:nvSpPr>
        <p:spPr>
          <a:xfrm>
            <a:off x="5990659" y="3101855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A73ED08-FFAD-9F36-0BA6-211CFBD53D25}"/>
              </a:ext>
            </a:extLst>
          </p:cNvPr>
          <p:cNvSpPr/>
          <p:nvPr/>
        </p:nvSpPr>
        <p:spPr>
          <a:xfrm>
            <a:off x="6101832" y="3367861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8D399EC-70F7-81AD-C1CB-6A8BC533745E}"/>
              </a:ext>
            </a:extLst>
          </p:cNvPr>
          <p:cNvSpPr/>
          <p:nvPr/>
        </p:nvSpPr>
        <p:spPr>
          <a:xfrm>
            <a:off x="6210091" y="3608866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45605E9-DBBB-6448-1908-CC363F1234CC}"/>
              </a:ext>
            </a:extLst>
          </p:cNvPr>
          <p:cNvSpPr/>
          <p:nvPr/>
        </p:nvSpPr>
        <p:spPr>
          <a:xfrm>
            <a:off x="6328201" y="3875566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BB994AB-8DF7-0911-C302-96A58F9036FD}"/>
              </a:ext>
            </a:extLst>
          </p:cNvPr>
          <p:cNvSpPr/>
          <p:nvPr/>
        </p:nvSpPr>
        <p:spPr>
          <a:xfrm>
            <a:off x="6457741" y="4107976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7E755F2-2C6E-7B03-2139-B542388E8CF9}"/>
              </a:ext>
            </a:extLst>
          </p:cNvPr>
          <p:cNvSpPr/>
          <p:nvPr/>
        </p:nvSpPr>
        <p:spPr>
          <a:xfrm>
            <a:off x="6606331" y="4348006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69273E7-69FE-AAB8-F434-5EC867CFCE3F}"/>
              </a:ext>
            </a:extLst>
          </p:cNvPr>
          <p:cNvSpPr/>
          <p:nvPr/>
        </p:nvSpPr>
        <p:spPr>
          <a:xfrm>
            <a:off x="6812071" y="4553746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D34790C-EA7C-CB86-C3FA-41B81344C667}"/>
              </a:ext>
            </a:extLst>
          </p:cNvPr>
          <p:cNvSpPr/>
          <p:nvPr/>
        </p:nvSpPr>
        <p:spPr>
          <a:xfrm>
            <a:off x="7055911" y="4740436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99800FC-838B-4043-CF80-C87A6AB153E9}"/>
              </a:ext>
            </a:extLst>
          </p:cNvPr>
          <p:cNvSpPr/>
          <p:nvPr/>
        </p:nvSpPr>
        <p:spPr>
          <a:xfrm>
            <a:off x="7368331" y="4812826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6593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0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5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2781B-7576-1C65-4D9A-A9FA471CA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F6C6044B-0281-52BF-C50E-CF0FB448070A}"/>
              </a:ext>
            </a:extLst>
          </p:cNvPr>
          <p:cNvSpPr txBox="1">
            <a:spLocks/>
          </p:cNvSpPr>
          <p:nvPr/>
        </p:nvSpPr>
        <p:spPr>
          <a:xfrm>
            <a:off x="551383" y="620688"/>
            <a:ext cx="11162197" cy="772201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ADE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Investigating Mechanistic Steps: Like Going Down a Slide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CE54E9-1394-55CD-ACCD-452C54BDE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8243" y="2156815"/>
            <a:ext cx="5654439" cy="35495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D9F6C8-B929-E290-0BF7-E8F7235F0102}"/>
              </a:ext>
            </a:extLst>
          </p:cNvPr>
          <p:cNvSpPr txBox="1"/>
          <p:nvPr/>
        </p:nvSpPr>
        <p:spPr>
          <a:xfrm>
            <a:off x="574794" y="1427473"/>
            <a:ext cx="5521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There are 4 steps to playing on a slide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871850-5273-49F4-8FE1-F277EA30C708}"/>
              </a:ext>
            </a:extLst>
          </p:cNvPr>
          <p:cNvSpPr txBox="1"/>
          <p:nvPr/>
        </p:nvSpPr>
        <p:spPr>
          <a:xfrm>
            <a:off x="1678329" y="2018021"/>
            <a:ext cx="374441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1. Stand at the bottom of the ladder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885274-E03D-BA55-34CC-25D19829CCF7}"/>
              </a:ext>
            </a:extLst>
          </p:cNvPr>
          <p:cNvSpPr txBox="1"/>
          <p:nvPr/>
        </p:nvSpPr>
        <p:spPr>
          <a:xfrm>
            <a:off x="2419109" y="2804958"/>
            <a:ext cx="226285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2. Climb the ladder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5F3BFBC-BE58-46B0-FEF1-3CF3C26A53E1}"/>
              </a:ext>
            </a:extLst>
          </p:cNvPr>
          <p:cNvCxnSpPr/>
          <p:nvPr/>
        </p:nvCxnSpPr>
        <p:spPr>
          <a:xfrm flipH="1">
            <a:off x="2610492" y="3970122"/>
            <a:ext cx="934656" cy="5324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5355630-862F-5E4C-2A5B-427D5EC7C49D}"/>
              </a:ext>
            </a:extLst>
          </p:cNvPr>
          <p:cNvCxnSpPr>
            <a:cxnSpLocks/>
          </p:cNvCxnSpPr>
          <p:nvPr/>
        </p:nvCxnSpPr>
        <p:spPr>
          <a:xfrm>
            <a:off x="3545148" y="3970122"/>
            <a:ext cx="934656" cy="5324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95319BB-C1F3-F59B-674E-B95AC03D45FE}"/>
              </a:ext>
            </a:extLst>
          </p:cNvPr>
          <p:cNvCxnSpPr>
            <a:cxnSpLocks/>
          </p:cNvCxnSpPr>
          <p:nvPr/>
        </p:nvCxnSpPr>
        <p:spPr>
          <a:xfrm>
            <a:off x="3545148" y="2446192"/>
            <a:ext cx="0" cy="3085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1EDBB5D-1114-1AF6-8BEF-423CD339FF81}"/>
              </a:ext>
            </a:extLst>
          </p:cNvPr>
          <p:cNvSpPr txBox="1"/>
          <p:nvPr/>
        </p:nvSpPr>
        <p:spPr>
          <a:xfrm>
            <a:off x="896032" y="4636750"/>
            <a:ext cx="243936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4a. Go down the slide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8D3CEA-837E-BCB8-5680-8FA1CDD1D84F}"/>
              </a:ext>
            </a:extLst>
          </p:cNvPr>
          <p:cNvSpPr txBox="1"/>
          <p:nvPr/>
        </p:nvSpPr>
        <p:spPr>
          <a:xfrm>
            <a:off x="984289" y="5687215"/>
            <a:ext cx="226285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4b. Get off the slide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6A45375-9727-BAF2-3425-5C75C12B11E6}"/>
              </a:ext>
            </a:extLst>
          </p:cNvPr>
          <p:cNvCxnSpPr>
            <a:cxnSpLocks/>
          </p:cNvCxnSpPr>
          <p:nvPr/>
        </p:nvCxnSpPr>
        <p:spPr>
          <a:xfrm>
            <a:off x="2115714" y="5092861"/>
            <a:ext cx="0" cy="5193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9BE5158-F724-3F25-0C3B-2C462F9DB634}"/>
              </a:ext>
            </a:extLst>
          </p:cNvPr>
          <p:cNvSpPr txBox="1"/>
          <p:nvPr/>
        </p:nvSpPr>
        <p:spPr>
          <a:xfrm>
            <a:off x="3744805" y="4636750"/>
            <a:ext cx="247378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4a. Get scared and climb back down the ladder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3B829C-77C8-683A-81CA-09E331F203A0}"/>
              </a:ext>
            </a:extLst>
          </p:cNvPr>
          <p:cNvSpPr txBox="1"/>
          <p:nvPr/>
        </p:nvSpPr>
        <p:spPr>
          <a:xfrm>
            <a:off x="3850270" y="5687215"/>
            <a:ext cx="226285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4b. Get off the slide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98CDB72-1AC8-7ED2-2C51-C8CC33988A42}"/>
              </a:ext>
            </a:extLst>
          </p:cNvPr>
          <p:cNvCxnSpPr>
            <a:cxnSpLocks/>
          </p:cNvCxnSpPr>
          <p:nvPr/>
        </p:nvCxnSpPr>
        <p:spPr>
          <a:xfrm>
            <a:off x="4981695" y="5359078"/>
            <a:ext cx="0" cy="2531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3BFA7EE-85D5-80E4-5367-68BCC3E40C5C}"/>
              </a:ext>
            </a:extLst>
          </p:cNvPr>
          <p:cNvSpPr txBox="1"/>
          <p:nvPr/>
        </p:nvSpPr>
        <p:spPr>
          <a:xfrm>
            <a:off x="2182228" y="3608104"/>
            <a:ext cx="273700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3. Sit at the top of the slide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FAFF625-31DF-AFD9-B876-EA18B2DABB0B}"/>
              </a:ext>
            </a:extLst>
          </p:cNvPr>
          <p:cNvCxnSpPr>
            <a:cxnSpLocks/>
          </p:cNvCxnSpPr>
          <p:nvPr/>
        </p:nvCxnSpPr>
        <p:spPr>
          <a:xfrm>
            <a:off x="3545148" y="3228408"/>
            <a:ext cx="0" cy="3085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2603648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151B0-A79A-0942-8359-F845D9E0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E0F42695-B073-2DDE-4D8F-7D77E74EF440}"/>
              </a:ext>
            </a:extLst>
          </p:cNvPr>
          <p:cNvSpPr txBox="1">
            <a:spLocks/>
          </p:cNvSpPr>
          <p:nvPr/>
        </p:nvSpPr>
        <p:spPr>
          <a:xfrm>
            <a:off x="551383" y="620688"/>
            <a:ext cx="11162197" cy="772201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00ADE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Investigating Mechanistic Steps: Like Going Down a Slide</a:t>
            </a:r>
            <a:endParaRPr lang="en-US" dirty="0">
              <a:solidFill>
                <a:srgbClr val="00ADE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028" name="Picture 4" descr="Figure 9.3">
            <a:extLst>
              <a:ext uri="{FF2B5EF4-FFF2-40B4-BE49-F238E27FC236}">
                <a16:creationId xmlns:a16="http://schemas.microsoft.com/office/drawing/2014/main" id="{1C5C62A9-2D83-63FB-1001-5E66112B3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3576" y="2410076"/>
            <a:ext cx="5075863" cy="315586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907461-E7A7-62D3-CA7F-51FE95F5717C}"/>
              </a:ext>
            </a:extLst>
          </p:cNvPr>
          <p:cNvSpPr txBox="1"/>
          <p:nvPr/>
        </p:nvSpPr>
        <p:spPr>
          <a:xfrm>
            <a:off x="574793" y="1427473"/>
            <a:ext cx="736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Likewise, there are 5 steps to computationally investigate mechanistic steps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A12DB5-1643-1C56-A952-561200CCBF6A}"/>
              </a:ext>
            </a:extLst>
          </p:cNvPr>
          <p:cNvSpPr txBox="1"/>
          <p:nvPr/>
        </p:nvSpPr>
        <p:spPr>
          <a:xfrm>
            <a:off x="1678329" y="2018021"/>
            <a:ext cx="374441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1. </a:t>
            </a:r>
            <a:r>
              <a:rPr lang="en-US" dirty="0" err="1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Optimise</a:t>
            </a: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Reactants or Products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840A1A-FB8C-4984-6627-51DAFB10AC59}"/>
              </a:ext>
            </a:extLst>
          </p:cNvPr>
          <p:cNvSpPr txBox="1"/>
          <p:nvPr/>
        </p:nvSpPr>
        <p:spPr>
          <a:xfrm>
            <a:off x="1944546" y="2804958"/>
            <a:ext cx="321065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2. Search for a Transition State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837C85B-6AF8-8CA0-2FDF-72C40CC2EF1A}"/>
              </a:ext>
            </a:extLst>
          </p:cNvPr>
          <p:cNvCxnSpPr/>
          <p:nvPr/>
        </p:nvCxnSpPr>
        <p:spPr>
          <a:xfrm flipH="1">
            <a:off x="2610492" y="3970122"/>
            <a:ext cx="934656" cy="5324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EFD0F13-A822-9868-7B42-5CCEA1B03F57}"/>
              </a:ext>
            </a:extLst>
          </p:cNvPr>
          <p:cNvCxnSpPr>
            <a:cxnSpLocks/>
          </p:cNvCxnSpPr>
          <p:nvPr/>
        </p:nvCxnSpPr>
        <p:spPr>
          <a:xfrm>
            <a:off x="3545148" y="3970122"/>
            <a:ext cx="934656" cy="5324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7C61740-01CA-E063-5FDC-D9EB8C405E3C}"/>
              </a:ext>
            </a:extLst>
          </p:cNvPr>
          <p:cNvCxnSpPr>
            <a:cxnSpLocks/>
          </p:cNvCxnSpPr>
          <p:nvPr/>
        </p:nvCxnSpPr>
        <p:spPr>
          <a:xfrm>
            <a:off x="3545148" y="2446192"/>
            <a:ext cx="0" cy="3085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2A6A1F3-AFD1-194E-3E0B-303E6841428A}"/>
              </a:ext>
            </a:extLst>
          </p:cNvPr>
          <p:cNvSpPr txBox="1"/>
          <p:nvPr/>
        </p:nvSpPr>
        <p:spPr>
          <a:xfrm>
            <a:off x="119039" y="4636748"/>
            <a:ext cx="311858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4a. Go down the Energy Surface in the Forward Direction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766BF0-D4D8-D625-3E6E-8B6DBB566E52}"/>
              </a:ext>
            </a:extLst>
          </p:cNvPr>
          <p:cNvSpPr txBox="1"/>
          <p:nvPr/>
        </p:nvSpPr>
        <p:spPr>
          <a:xfrm>
            <a:off x="61408" y="5687215"/>
            <a:ext cx="3295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4b. </a:t>
            </a:r>
            <a:r>
              <a:rPr lang="en-US" dirty="0" err="1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Optimise</a:t>
            </a: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Forward Molecules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C89CFE-C1CE-8450-ACF2-7334646E8BD3}"/>
              </a:ext>
            </a:extLst>
          </p:cNvPr>
          <p:cNvCxnSpPr>
            <a:cxnSpLocks/>
          </p:cNvCxnSpPr>
          <p:nvPr/>
        </p:nvCxnSpPr>
        <p:spPr>
          <a:xfrm>
            <a:off x="5350538" y="5359078"/>
            <a:ext cx="0" cy="2531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F2A880E-9C99-4959-2156-28BEEED78F10}"/>
              </a:ext>
            </a:extLst>
          </p:cNvPr>
          <p:cNvSpPr txBox="1"/>
          <p:nvPr/>
        </p:nvSpPr>
        <p:spPr>
          <a:xfrm>
            <a:off x="1950734" y="3608104"/>
            <a:ext cx="321065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3. </a:t>
            </a:r>
            <a:r>
              <a:rPr lang="en-US" dirty="0" err="1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Optimise</a:t>
            </a: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the Transition State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1BD460E-247C-46C5-556C-9A0337878C67}"/>
              </a:ext>
            </a:extLst>
          </p:cNvPr>
          <p:cNvCxnSpPr>
            <a:cxnSpLocks/>
          </p:cNvCxnSpPr>
          <p:nvPr/>
        </p:nvCxnSpPr>
        <p:spPr>
          <a:xfrm>
            <a:off x="3545148" y="3228408"/>
            <a:ext cx="0" cy="3085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7CC55E4-4507-143B-738E-AA686F905C2F}"/>
              </a:ext>
            </a:extLst>
          </p:cNvPr>
          <p:cNvSpPr txBox="1"/>
          <p:nvPr/>
        </p:nvSpPr>
        <p:spPr>
          <a:xfrm>
            <a:off x="3753443" y="4636749"/>
            <a:ext cx="3194189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4a. Go down the Energy Surface in the Backward Direction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F644982-926E-513F-07D8-BEE49D9D875C}"/>
              </a:ext>
            </a:extLst>
          </p:cNvPr>
          <p:cNvCxnSpPr>
            <a:cxnSpLocks/>
          </p:cNvCxnSpPr>
          <p:nvPr/>
        </p:nvCxnSpPr>
        <p:spPr>
          <a:xfrm>
            <a:off x="1700573" y="5360262"/>
            <a:ext cx="0" cy="2531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7B68929-B909-5E6D-52C6-5D12D7725040}"/>
              </a:ext>
            </a:extLst>
          </p:cNvPr>
          <p:cNvSpPr txBox="1"/>
          <p:nvPr/>
        </p:nvSpPr>
        <p:spPr>
          <a:xfrm>
            <a:off x="3702914" y="5687215"/>
            <a:ext cx="3295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4b. </a:t>
            </a:r>
            <a:r>
              <a:rPr lang="en-US" dirty="0" err="1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Optimise</a:t>
            </a: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Backward Molecules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8B7D3E-4883-81A3-2D18-8D66DE6DFDDF}"/>
              </a:ext>
            </a:extLst>
          </p:cNvPr>
          <p:cNvSpPr txBox="1"/>
          <p:nvPr/>
        </p:nvSpPr>
        <p:spPr>
          <a:xfrm>
            <a:off x="7109460" y="5612232"/>
            <a:ext cx="54874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NZ" sz="900" dirty="0">
                <a:effectLst/>
                <a:latin typeface="Helvetica" pitchFamily="2" charset="0"/>
              </a:rPr>
              <a:t>Ouellette, R. J. and Rawn, J. D. (2018), </a:t>
            </a:r>
            <a:r>
              <a:rPr lang="en-NZ" sz="900" i="1" dirty="0">
                <a:effectLst/>
                <a:latin typeface="Helvetica" pitchFamily="2" charset="0"/>
              </a:rPr>
              <a:t>Haloalkanes and alcohols Nucleophilic Substitution and Elimination Reactions</a:t>
            </a:r>
            <a:r>
              <a:rPr lang="en-NZ" sz="900" dirty="0">
                <a:effectLst/>
                <a:latin typeface="Helvetica" pitchFamily="2" charset="0"/>
              </a:rPr>
              <a:t>, Elsevier, pp. 255--298.</a:t>
            </a:r>
          </a:p>
          <a:p>
            <a:pPr>
              <a:buNone/>
            </a:pPr>
            <a:br>
              <a:rPr lang="en-NZ" sz="900" dirty="0">
                <a:effectLst/>
                <a:latin typeface="Helvetica" pitchFamily="2" charset="0"/>
              </a:rPr>
            </a:br>
            <a:endParaRPr lang="en-NZ" sz="900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608023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22F7D02A-538D-A942-8535-AA0A4D8608FB}"/>
              </a:ext>
            </a:extLst>
          </p:cNvPr>
          <p:cNvSpPr txBox="1">
            <a:spLocks/>
          </p:cNvSpPr>
          <p:nvPr/>
        </p:nvSpPr>
        <p:spPr>
          <a:xfrm>
            <a:off x="551384" y="1528423"/>
            <a:ext cx="5623640" cy="127753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 defTabSz="457200" rtl="0" eaLnBrk="1" latinLnBrk="0" hangingPunct="1">
              <a:lnSpc>
                <a:spcPts val="2500"/>
              </a:lnSpc>
              <a:spcBef>
                <a:spcPts val="0"/>
              </a:spcBef>
              <a:buFont typeface="Arial"/>
              <a:buNone/>
              <a:defRPr sz="2600" kern="1200" cap="all">
                <a:solidFill>
                  <a:schemeClr val="bg1"/>
                </a:solidFill>
                <a:latin typeface="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tx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951C4A46-14C6-F444-AD3C-E731564A04C2}"/>
              </a:ext>
            </a:extLst>
          </p:cNvPr>
          <p:cNvSpPr txBox="1">
            <a:spLocks/>
          </p:cNvSpPr>
          <p:nvPr/>
        </p:nvSpPr>
        <p:spPr>
          <a:xfrm>
            <a:off x="551384" y="620688"/>
            <a:ext cx="8153400" cy="77220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ADE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1.</a:t>
            </a: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 err="1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Optimise</a:t>
            </a:r>
            <a:r>
              <a:rPr lang="en-US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Reactants or Products</a:t>
            </a:r>
            <a:r>
              <a:rPr lang="en-US">
                <a:solidFill>
                  <a:srgbClr val="00ADE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en-US" dirty="0">
              <a:solidFill>
                <a:srgbClr val="00ADE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0944F-454B-094E-8E54-233F2738B97D}"/>
              </a:ext>
            </a:extLst>
          </p:cNvPr>
          <p:cNvSpPr txBox="1"/>
          <p:nvPr/>
        </p:nvSpPr>
        <p:spPr>
          <a:xfrm>
            <a:off x="574794" y="1925183"/>
            <a:ext cx="5521206" cy="1733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It is important to make sure we have found the local minimum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This is the bottom of the energy well</a:t>
            </a:r>
          </a:p>
          <a:p>
            <a:pPr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This is to make sure that we definitely have a reactant, intermediate, or product.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8ED2E4-6E79-0F6C-E948-80F19A4B6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605" y="1392889"/>
            <a:ext cx="4419600" cy="49022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29703D28-7E0D-EE2D-9813-FD3237C4DDF9}"/>
              </a:ext>
            </a:extLst>
          </p:cNvPr>
          <p:cNvSpPr/>
          <p:nvPr/>
        </p:nvSpPr>
        <p:spPr>
          <a:xfrm>
            <a:off x="8393152" y="3514454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BB3C910-4F84-ACC1-C67E-F073877828A8}"/>
              </a:ext>
            </a:extLst>
          </p:cNvPr>
          <p:cNvSpPr/>
          <p:nvPr/>
        </p:nvSpPr>
        <p:spPr>
          <a:xfrm>
            <a:off x="10604811" y="4581254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9659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4A3A1-28B7-4856-780A-2B6B897C2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53FE303B-AB6C-FE6F-91F1-77111255D48D}"/>
              </a:ext>
            </a:extLst>
          </p:cNvPr>
          <p:cNvSpPr txBox="1">
            <a:spLocks/>
          </p:cNvSpPr>
          <p:nvPr/>
        </p:nvSpPr>
        <p:spPr>
          <a:xfrm>
            <a:off x="551384" y="1528423"/>
            <a:ext cx="5623640" cy="127753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 defTabSz="457200" rtl="0" eaLnBrk="1" latinLnBrk="0" hangingPunct="1">
              <a:lnSpc>
                <a:spcPts val="2500"/>
              </a:lnSpc>
              <a:spcBef>
                <a:spcPts val="0"/>
              </a:spcBef>
              <a:buFont typeface="Arial"/>
              <a:buNone/>
              <a:defRPr sz="2600" kern="1200" cap="all">
                <a:solidFill>
                  <a:schemeClr val="bg1"/>
                </a:solidFill>
                <a:latin typeface="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tx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91AF460D-0C11-3312-A5B5-3424B4EAB74F}"/>
              </a:ext>
            </a:extLst>
          </p:cNvPr>
          <p:cNvSpPr txBox="1">
            <a:spLocks/>
          </p:cNvSpPr>
          <p:nvPr/>
        </p:nvSpPr>
        <p:spPr>
          <a:xfrm>
            <a:off x="551384" y="620688"/>
            <a:ext cx="8153400" cy="77220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ADE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2.</a:t>
            </a: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Search for a transition point</a:t>
            </a:r>
            <a:endParaRPr lang="en-US" dirty="0">
              <a:solidFill>
                <a:srgbClr val="00ADE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756168-1676-C7E9-FC9F-C3C1E6A09067}"/>
              </a:ext>
            </a:extLst>
          </p:cNvPr>
          <p:cNvSpPr txBox="1"/>
          <p:nvPr/>
        </p:nvSpPr>
        <p:spPr>
          <a:xfrm>
            <a:off x="574794" y="1925183"/>
            <a:ext cx="5521206" cy="1733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We then perform some sort of method to scan between the reactant and product. 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We measure the energy at each point along the path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From this, we take the transition state as the point of highest energy from along the path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4D6298-DC0F-5A1A-9C8D-4B5063602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605" y="1392889"/>
            <a:ext cx="4419600" cy="49022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0363B60E-9586-5A17-0BDE-9BCAD6306BBB}"/>
              </a:ext>
            </a:extLst>
          </p:cNvPr>
          <p:cNvSpPr/>
          <p:nvPr/>
        </p:nvSpPr>
        <p:spPr>
          <a:xfrm>
            <a:off x="8393152" y="3514454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6CC5723-C44D-5B74-5322-658C346271C5}"/>
              </a:ext>
            </a:extLst>
          </p:cNvPr>
          <p:cNvSpPr/>
          <p:nvPr/>
        </p:nvSpPr>
        <p:spPr>
          <a:xfrm>
            <a:off x="8579005" y="2956062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E5A4CF9-4EE1-4B40-AFC5-A23D84F23040}"/>
              </a:ext>
            </a:extLst>
          </p:cNvPr>
          <p:cNvCxnSpPr>
            <a:cxnSpLocks/>
          </p:cNvCxnSpPr>
          <p:nvPr/>
        </p:nvCxnSpPr>
        <p:spPr>
          <a:xfrm flipV="1">
            <a:off x="8526967" y="3166946"/>
            <a:ext cx="111511" cy="3177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3A583A83-6F58-437B-458B-20B0EA1ABE5B}"/>
              </a:ext>
            </a:extLst>
          </p:cNvPr>
          <p:cNvSpPr/>
          <p:nvPr/>
        </p:nvSpPr>
        <p:spPr>
          <a:xfrm>
            <a:off x="8760840" y="2515522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138190A-E608-AE92-7A50-35EC0FE966E8}"/>
              </a:ext>
            </a:extLst>
          </p:cNvPr>
          <p:cNvCxnSpPr>
            <a:cxnSpLocks/>
          </p:cNvCxnSpPr>
          <p:nvPr/>
        </p:nvCxnSpPr>
        <p:spPr>
          <a:xfrm flipV="1">
            <a:off x="8704784" y="2706029"/>
            <a:ext cx="97244" cy="22414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2AC5DBF-6773-0C18-A4A6-54B48E8C2EC4}"/>
              </a:ext>
            </a:extLst>
          </p:cNvPr>
          <p:cNvCxnSpPr>
            <a:cxnSpLocks/>
          </p:cNvCxnSpPr>
          <p:nvPr/>
        </p:nvCxnSpPr>
        <p:spPr>
          <a:xfrm flipV="1">
            <a:off x="8913541" y="2294515"/>
            <a:ext cx="96644" cy="1807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50E05F62-011B-F38A-5CF7-B849D5AC46E1}"/>
              </a:ext>
            </a:extLst>
          </p:cNvPr>
          <p:cNvSpPr/>
          <p:nvPr/>
        </p:nvSpPr>
        <p:spPr>
          <a:xfrm>
            <a:off x="8987883" y="2100634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2AAAC84-EB33-4376-4B7E-76E733C590CC}"/>
              </a:ext>
            </a:extLst>
          </p:cNvPr>
          <p:cNvSpPr/>
          <p:nvPr/>
        </p:nvSpPr>
        <p:spPr>
          <a:xfrm>
            <a:off x="9359590" y="2153326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8770752-437A-3629-C8B2-254553B6A60D}"/>
              </a:ext>
            </a:extLst>
          </p:cNvPr>
          <p:cNvCxnSpPr>
            <a:cxnSpLocks/>
          </p:cNvCxnSpPr>
          <p:nvPr/>
        </p:nvCxnSpPr>
        <p:spPr>
          <a:xfrm>
            <a:off x="9199756" y="2167188"/>
            <a:ext cx="159834" cy="259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46039CC9-2572-52E8-B190-AA1127B68667}"/>
              </a:ext>
            </a:extLst>
          </p:cNvPr>
          <p:cNvSpPr/>
          <p:nvPr/>
        </p:nvSpPr>
        <p:spPr>
          <a:xfrm>
            <a:off x="9675432" y="2587643"/>
            <a:ext cx="178420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0FEBE1D-8650-062C-A56B-B28F601B7334}"/>
              </a:ext>
            </a:extLst>
          </p:cNvPr>
          <p:cNvCxnSpPr>
            <a:cxnSpLocks/>
          </p:cNvCxnSpPr>
          <p:nvPr/>
        </p:nvCxnSpPr>
        <p:spPr>
          <a:xfrm>
            <a:off x="9515707" y="2338324"/>
            <a:ext cx="182027" cy="227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65BEE02-CB68-1875-E5BA-2ECC802C5EE5}"/>
              </a:ext>
            </a:extLst>
          </p:cNvPr>
          <p:cNvSpPr/>
          <p:nvPr/>
        </p:nvSpPr>
        <p:spPr>
          <a:xfrm>
            <a:off x="9830674" y="3048561"/>
            <a:ext cx="178420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FD3427C-16E0-BF09-5ED1-D86074F7D2BF}"/>
              </a:ext>
            </a:extLst>
          </p:cNvPr>
          <p:cNvCxnSpPr>
            <a:cxnSpLocks/>
          </p:cNvCxnSpPr>
          <p:nvPr/>
        </p:nvCxnSpPr>
        <p:spPr>
          <a:xfrm>
            <a:off x="9808372" y="2792668"/>
            <a:ext cx="59472" cy="2268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E89C1F0F-CE22-DD5B-D759-BFC4761EEB4F}"/>
              </a:ext>
            </a:extLst>
          </p:cNvPr>
          <p:cNvSpPr/>
          <p:nvPr/>
        </p:nvSpPr>
        <p:spPr>
          <a:xfrm>
            <a:off x="9988704" y="3514454"/>
            <a:ext cx="178420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9FC0E72-6EA8-2BAC-6F44-991F6DB90078}"/>
              </a:ext>
            </a:extLst>
          </p:cNvPr>
          <p:cNvCxnSpPr>
            <a:cxnSpLocks/>
          </p:cNvCxnSpPr>
          <p:nvPr/>
        </p:nvCxnSpPr>
        <p:spPr>
          <a:xfrm>
            <a:off x="9958968" y="3258561"/>
            <a:ext cx="59472" cy="2268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C9A4A2D4-2A91-1D21-0876-FD299C005D58}"/>
              </a:ext>
            </a:extLst>
          </p:cNvPr>
          <p:cNvSpPr/>
          <p:nvPr/>
        </p:nvSpPr>
        <p:spPr>
          <a:xfrm>
            <a:off x="10189426" y="3928013"/>
            <a:ext cx="178420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A270353-8060-DCA4-7125-1978E826D5A9}"/>
              </a:ext>
            </a:extLst>
          </p:cNvPr>
          <p:cNvCxnSpPr>
            <a:cxnSpLocks/>
          </p:cNvCxnSpPr>
          <p:nvPr/>
        </p:nvCxnSpPr>
        <p:spPr>
          <a:xfrm>
            <a:off x="10167124" y="3728494"/>
            <a:ext cx="52038" cy="20764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EB3B3A2-15F7-CC6C-018C-7B6C67DA9C50}"/>
              </a:ext>
            </a:extLst>
          </p:cNvPr>
          <p:cNvCxnSpPr>
            <a:cxnSpLocks/>
          </p:cNvCxnSpPr>
          <p:nvPr/>
        </p:nvCxnSpPr>
        <p:spPr>
          <a:xfrm>
            <a:off x="10315808" y="4134619"/>
            <a:ext cx="99432" cy="1704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C7B516FC-D121-5ADE-D68E-681E2E2BE5B0}"/>
              </a:ext>
            </a:extLst>
          </p:cNvPr>
          <p:cNvSpPr/>
          <p:nvPr/>
        </p:nvSpPr>
        <p:spPr>
          <a:xfrm>
            <a:off x="10609456" y="4575163"/>
            <a:ext cx="178420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550877D-B4AF-D769-DC05-E485C72BF51D}"/>
              </a:ext>
            </a:extLst>
          </p:cNvPr>
          <p:cNvSpPr/>
          <p:nvPr/>
        </p:nvSpPr>
        <p:spPr>
          <a:xfrm>
            <a:off x="10372958" y="4334138"/>
            <a:ext cx="178420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61A94F9-E8CF-F3B6-AAEE-507B3FD35E58}"/>
              </a:ext>
            </a:extLst>
          </p:cNvPr>
          <p:cNvCxnSpPr>
            <a:cxnSpLocks/>
          </p:cNvCxnSpPr>
          <p:nvPr/>
        </p:nvCxnSpPr>
        <p:spPr>
          <a:xfrm>
            <a:off x="10529076" y="4489400"/>
            <a:ext cx="90602" cy="1242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screen shot of a graph&#10;&#10;AI-generated content may be incorrect.">
            <a:extLst>
              <a:ext uri="{FF2B5EF4-FFF2-40B4-BE49-F238E27FC236}">
                <a16:creationId xmlns:a16="http://schemas.microsoft.com/office/drawing/2014/main" id="{888AC5BF-C89E-58EF-E08B-8647E7169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841" y="3514454"/>
            <a:ext cx="4564087" cy="353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273896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8D265-1F81-3360-34E8-7E01AB7AE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C49E5C-3C9F-17E8-4DD4-CBFFCEF91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966" y="3645342"/>
            <a:ext cx="4613178" cy="2935659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283F03EA-E664-ECB5-4BF8-91CA0BCE0BA1}"/>
              </a:ext>
            </a:extLst>
          </p:cNvPr>
          <p:cNvSpPr txBox="1">
            <a:spLocks/>
          </p:cNvSpPr>
          <p:nvPr/>
        </p:nvSpPr>
        <p:spPr>
          <a:xfrm>
            <a:off x="551384" y="1528423"/>
            <a:ext cx="5623640" cy="127753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 defTabSz="457200" rtl="0" eaLnBrk="1" latinLnBrk="0" hangingPunct="1">
              <a:lnSpc>
                <a:spcPts val="2500"/>
              </a:lnSpc>
              <a:spcBef>
                <a:spcPts val="0"/>
              </a:spcBef>
              <a:buFont typeface="Arial"/>
              <a:buNone/>
              <a:defRPr sz="2600" kern="1200" cap="all">
                <a:solidFill>
                  <a:schemeClr val="bg1"/>
                </a:solidFill>
                <a:latin typeface="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tx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DF4BB1C3-7385-E7E0-A191-934A868E3F6B}"/>
              </a:ext>
            </a:extLst>
          </p:cNvPr>
          <p:cNvSpPr txBox="1">
            <a:spLocks/>
          </p:cNvSpPr>
          <p:nvPr/>
        </p:nvSpPr>
        <p:spPr>
          <a:xfrm>
            <a:off x="551384" y="620688"/>
            <a:ext cx="8153400" cy="77220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ADE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3.</a:t>
            </a: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 err="1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Optimise</a:t>
            </a: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the transition state</a:t>
            </a:r>
            <a:endParaRPr lang="en-US" dirty="0">
              <a:solidFill>
                <a:srgbClr val="00ADE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B5BF88-F7B1-A4F8-7EF2-7F29182ACA28}"/>
              </a:ext>
            </a:extLst>
          </p:cNvPr>
          <p:cNvSpPr txBox="1"/>
          <p:nvPr/>
        </p:nvSpPr>
        <p:spPr>
          <a:xfrm>
            <a:off x="574793" y="1925183"/>
            <a:ext cx="6708811" cy="2544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When we choose the highest point along our path, we optimize it further for two reasons</a:t>
            </a:r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To find the state along the path of highest energy, and</a:t>
            </a:r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Most importantly, to make sure the transition state is a </a:t>
            </a:r>
            <a:r>
              <a:rPr lang="en-US" b="1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first-order </a:t>
            </a:r>
            <a:r>
              <a:rPr lang="en-US" b="1" dirty="0" err="1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saddlepoint</a:t>
            </a:r>
            <a:endParaRPr lang="en-US" b="1" dirty="0">
              <a:solidFill>
                <a:srgbClr val="001C36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</a:pPr>
            <a:endParaRPr lang="en-US" dirty="0">
              <a:solidFill>
                <a:srgbClr val="001C36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1000"/>
              </a:spcAft>
            </a:pPr>
            <a:endParaRPr lang="en-US" dirty="0">
              <a:solidFill>
                <a:srgbClr val="001C36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9360A5-2F19-9EA8-26E9-10952A2AB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605" y="1392889"/>
            <a:ext cx="4419600" cy="4902200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9152108A-5C66-CCD1-28E9-58FA501FF29B}"/>
              </a:ext>
            </a:extLst>
          </p:cNvPr>
          <p:cNvSpPr/>
          <p:nvPr/>
        </p:nvSpPr>
        <p:spPr>
          <a:xfrm>
            <a:off x="8987883" y="2100634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09EA763-8B6B-CCC5-CCA4-25D0D9B88340}"/>
              </a:ext>
            </a:extLst>
          </p:cNvPr>
          <p:cNvSpPr/>
          <p:nvPr/>
        </p:nvSpPr>
        <p:spPr>
          <a:xfrm>
            <a:off x="9151434" y="2037519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880B294C-BE97-8284-D49B-08C68361F905}"/>
              </a:ext>
            </a:extLst>
          </p:cNvPr>
          <p:cNvSpPr/>
          <p:nvPr/>
        </p:nvSpPr>
        <p:spPr>
          <a:xfrm>
            <a:off x="9038963" y="1765425"/>
            <a:ext cx="178419" cy="290596"/>
          </a:xfrm>
          <a:custGeom>
            <a:avLst/>
            <a:gdLst>
              <a:gd name="connsiteX0" fmla="*/ 11176 w 211898"/>
              <a:gd name="connsiteY0" fmla="*/ 432980 h 432980"/>
              <a:gd name="connsiteX1" fmla="*/ 3742 w 211898"/>
              <a:gd name="connsiteY1" fmla="*/ 98443 h 432980"/>
              <a:gd name="connsiteX2" fmla="*/ 63215 w 211898"/>
              <a:gd name="connsiteY2" fmla="*/ 9233 h 432980"/>
              <a:gd name="connsiteX3" fmla="*/ 130122 w 211898"/>
              <a:gd name="connsiteY3" fmla="*/ 38970 h 432980"/>
              <a:gd name="connsiteX4" fmla="*/ 211898 w 211898"/>
              <a:gd name="connsiteY4" fmla="*/ 328902 h 43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1898" h="432980">
                <a:moveTo>
                  <a:pt x="11176" y="432980"/>
                </a:moveTo>
                <a:cubicBezTo>
                  <a:pt x="3122" y="301023"/>
                  <a:pt x="-4931" y="169067"/>
                  <a:pt x="3742" y="98443"/>
                </a:cubicBezTo>
                <a:cubicBezTo>
                  <a:pt x="12415" y="27819"/>
                  <a:pt x="42152" y="19145"/>
                  <a:pt x="63215" y="9233"/>
                </a:cubicBezTo>
                <a:cubicBezTo>
                  <a:pt x="84278" y="-679"/>
                  <a:pt x="105342" y="-14308"/>
                  <a:pt x="130122" y="38970"/>
                </a:cubicBezTo>
                <a:cubicBezTo>
                  <a:pt x="154903" y="92248"/>
                  <a:pt x="183400" y="210575"/>
                  <a:pt x="211898" y="328902"/>
                </a:cubicBezTo>
              </a:path>
            </a:pathLst>
          </a:custGeom>
          <a:ln w="381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2B901B-E9A0-4EA5-316B-4676FC4BED19}"/>
              </a:ext>
            </a:extLst>
          </p:cNvPr>
          <p:cNvSpPr txBox="1"/>
          <p:nvPr/>
        </p:nvSpPr>
        <p:spPr>
          <a:xfrm>
            <a:off x="0" y="6581001"/>
            <a:ext cx="9760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1200" b="0" u="none" strike="noStrike" dirty="0">
                <a:effectLst/>
                <a:latin typeface="Roboto" panose="02000000000000000000" pitchFamily="2" charset="0"/>
              </a:rPr>
              <a:t>J. A. Keith, V. Vassilev-Galindo, B. Cheng, S. Chmiela, M. Gastegger, K.-R. Müller, and A. Tkatchenko; Chem. Rev. 2021, 121, 16, 9816–9872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508017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16660-17CA-09C3-8B38-0C0C37917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6C63CA-F349-E027-5E17-42575E463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605" y="1392889"/>
            <a:ext cx="4419600" cy="4902200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7BC7256F-251E-0087-7DC4-5B6B48BF2D21}"/>
              </a:ext>
            </a:extLst>
          </p:cNvPr>
          <p:cNvSpPr txBox="1">
            <a:spLocks/>
          </p:cNvSpPr>
          <p:nvPr/>
        </p:nvSpPr>
        <p:spPr>
          <a:xfrm>
            <a:off x="551384" y="1528423"/>
            <a:ext cx="5623640" cy="127753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 defTabSz="457200" rtl="0" eaLnBrk="1" latinLnBrk="0" hangingPunct="1">
              <a:lnSpc>
                <a:spcPts val="2500"/>
              </a:lnSpc>
              <a:spcBef>
                <a:spcPts val="0"/>
              </a:spcBef>
              <a:buFont typeface="Arial"/>
              <a:buNone/>
              <a:defRPr sz="2600" kern="1200" cap="all">
                <a:solidFill>
                  <a:schemeClr val="bg1"/>
                </a:solidFill>
                <a:latin typeface="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tx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2A86464-3D08-9458-4564-4AD5929FD13E}"/>
              </a:ext>
            </a:extLst>
          </p:cNvPr>
          <p:cNvSpPr txBox="1">
            <a:spLocks/>
          </p:cNvSpPr>
          <p:nvPr/>
        </p:nvSpPr>
        <p:spPr>
          <a:xfrm>
            <a:off x="551384" y="620688"/>
            <a:ext cx="11064212" cy="77220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ADE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4a.</a:t>
            </a: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Check the transition state falls to Reactant and Product</a:t>
            </a:r>
            <a:endParaRPr lang="en-US" dirty="0">
              <a:solidFill>
                <a:srgbClr val="00ADE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87355F-778F-0EB6-4354-E4F663078CE3}"/>
              </a:ext>
            </a:extLst>
          </p:cNvPr>
          <p:cNvSpPr txBox="1"/>
          <p:nvPr/>
        </p:nvSpPr>
        <p:spPr>
          <a:xfrm>
            <a:off x="574794" y="1925183"/>
            <a:ext cx="5521206" cy="2564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We perform a check to make sure that our transition state does fall naturally to the reactant and the product.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This is because the transition state we found might fall to another reactant/product than the ones we care about. </a:t>
            </a:r>
          </a:p>
          <a:p>
            <a:pPr>
              <a:spcAft>
                <a:spcPts val="1000"/>
              </a:spcAft>
            </a:pPr>
            <a:r>
              <a:rPr lang="en-US" dirty="0">
                <a:solidFill>
                  <a:srgbClr val="00ADE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4b.</a:t>
            </a: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 err="1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Optimise</a:t>
            </a: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the reactants and products we find and confirm they are roughly the same structurally as the reactants and products we started with.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386C672-68B5-FA84-2513-1A27E0315DCB}"/>
              </a:ext>
            </a:extLst>
          </p:cNvPr>
          <p:cNvSpPr/>
          <p:nvPr/>
        </p:nvSpPr>
        <p:spPr>
          <a:xfrm>
            <a:off x="9151434" y="2037519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B59A2BB-195B-0991-1087-5969D1763688}"/>
              </a:ext>
            </a:extLst>
          </p:cNvPr>
          <p:cNvSpPr/>
          <p:nvPr/>
        </p:nvSpPr>
        <p:spPr>
          <a:xfrm>
            <a:off x="8389434" y="3516589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E979F15-4751-1102-013F-9D38AE69CD35}"/>
              </a:ext>
            </a:extLst>
          </p:cNvPr>
          <p:cNvSpPr/>
          <p:nvPr/>
        </p:nvSpPr>
        <p:spPr>
          <a:xfrm>
            <a:off x="10606024" y="4565282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C92C454-30CA-5824-ABD8-340DD52CA0EB}"/>
              </a:ext>
            </a:extLst>
          </p:cNvPr>
          <p:cNvCxnSpPr>
            <a:cxnSpLocks/>
          </p:cNvCxnSpPr>
          <p:nvPr/>
        </p:nvCxnSpPr>
        <p:spPr>
          <a:xfrm flipH="1">
            <a:off x="8531641" y="2222517"/>
            <a:ext cx="548985" cy="12669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EE1564-0AB0-EA4A-F4A0-C0C0FF4CFA81}"/>
              </a:ext>
            </a:extLst>
          </p:cNvPr>
          <p:cNvCxnSpPr>
            <a:cxnSpLocks/>
          </p:cNvCxnSpPr>
          <p:nvPr/>
        </p:nvCxnSpPr>
        <p:spPr>
          <a:xfrm>
            <a:off x="9400661" y="2222517"/>
            <a:ext cx="1214416" cy="23156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427805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CACFA-DE91-F727-DDB8-129F3E1BD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4775BE05-794A-82CC-E5A3-F62055586AC9}"/>
              </a:ext>
            </a:extLst>
          </p:cNvPr>
          <p:cNvSpPr txBox="1">
            <a:spLocks/>
          </p:cNvSpPr>
          <p:nvPr/>
        </p:nvSpPr>
        <p:spPr>
          <a:xfrm>
            <a:off x="551383" y="620688"/>
            <a:ext cx="11162197" cy="772201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ADE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Investigating Mechanistic Steps: Like Going Down a Slide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1F75B1-B4C5-BF5B-AC9B-CF8571E8A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8243" y="2156815"/>
            <a:ext cx="5654439" cy="35495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C4FB2E-F47A-F497-BF43-6C98039C5BC0}"/>
              </a:ext>
            </a:extLst>
          </p:cNvPr>
          <p:cNvSpPr txBox="1"/>
          <p:nvPr/>
        </p:nvSpPr>
        <p:spPr>
          <a:xfrm>
            <a:off x="574794" y="1427473"/>
            <a:ext cx="5521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There are 4 steps to playing on a slide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CB61BB-6257-78E8-4896-E6B7F37E2257}"/>
              </a:ext>
            </a:extLst>
          </p:cNvPr>
          <p:cNvSpPr txBox="1"/>
          <p:nvPr/>
        </p:nvSpPr>
        <p:spPr>
          <a:xfrm>
            <a:off x="1678329" y="2018021"/>
            <a:ext cx="374441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1. Stand at the bottom of the ladder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53F27C-7F89-30C6-7DB7-0DD4C91A581E}"/>
              </a:ext>
            </a:extLst>
          </p:cNvPr>
          <p:cNvSpPr txBox="1"/>
          <p:nvPr/>
        </p:nvSpPr>
        <p:spPr>
          <a:xfrm>
            <a:off x="2419109" y="2804958"/>
            <a:ext cx="226285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2. Climb the ladder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33EE8BE-F3B5-5993-0A0B-6C21FB1F3C23}"/>
              </a:ext>
            </a:extLst>
          </p:cNvPr>
          <p:cNvCxnSpPr/>
          <p:nvPr/>
        </p:nvCxnSpPr>
        <p:spPr>
          <a:xfrm flipH="1">
            <a:off x="2610492" y="3970122"/>
            <a:ext cx="934656" cy="5324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78E14CC-A022-E6A4-B61C-411E16909931}"/>
              </a:ext>
            </a:extLst>
          </p:cNvPr>
          <p:cNvCxnSpPr>
            <a:cxnSpLocks/>
          </p:cNvCxnSpPr>
          <p:nvPr/>
        </p:nvCxnSpPr>
        <p:spPr>
          <a:xfrm>
            <a:off x="3545148" y="3970122"/>
            <a:ext cx="934656" cy="5324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1D8246E-1FFA-89BE-0848-39CAFACFF270}"/>
              </a:ext>
            </a:extLst>
          </p:cNvPr>
          <p:cNvCxnSpPr>
            <a:cxnSpLocks/>
          </p:cNvCxnSpPr>
          <p:nvPr/>
        </p:nvCxnSpPr>
        <p:spPr>
          <a:xfrm>
            <a:off x="3545148" y="2446192"/>
            <a:ext cx="0" cy="3085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7C89F50-1046-8BAB-7137-DDA2BB6CAB20}"/>
              </a:ext>
            </a:extLst>
          </p:cNvPr>
          <p:cNvSpPr txBox="1"/>
          <p:nvPr/>
        </p:nvSpPr>
        <p:spPr>
          <a:xfrm>
            <a:off x="896032" y="4636750"/>
            <a:ext cx="243936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4a. Go down the slide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41C2C3-0EA6-64D2-9C78-BCC6D0C24500}"/>
              </a:ext>
            </a:extLst>
          </p:cNvPr>
          <p:cNvSpPr txBox="1"/>
          <p:nvPr/>
        </p:nvSpPr>
        <p:spPr>
          <a:xfrm>
            <a:off x="984289" y="5687215"/>
            <a:ext cx="226285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4b. Get off the slide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F1DE292-7CDD-93E1-79B5-F20661C71591}"/>
              </a:ext>
            </a:extLst>
          </p:cNvPr>
          <p:cNvCxnSpPr>
            <a:cxnSpLocks/>
          </p:cNvCxnSpPr>
          <p:nvPr/>
        </p:nvCxnSpPr>
        <p:spPr>
          <a:xfrm>
            <a:off x="2115714" y="5092861"/>
            <a:ext cx="0" cy="5193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A5DC912-FA2D-21C9-304D-55D04F9F8833}"/>
              </a:ext>
            </a:extLst>
          </p:cNvPr>
          <p:cNvSpPr txBox="1"/>
          <p:nvPr/>
        </p:nvSpPr>
        <p:spPr>
          <a:xfrm>
            <a:off x="3744805" y="4636750"/>
            <a:ext cx="247378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4a. Get scared and climb back down the ladder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3C25FE-8C38-2314-4004-58B65FC8AFD3}"/>
              </a:ext>
            </a:extLst>
          </p:cNvPr>
          <p:cNvSpPr txBox="1"/>
          <p:nvPr/>
        </p:nvSpPr>
        <p:spPr>
          <a:xfrm>
            <a:off x="3850270" y="5687215"/>
            <a:ext cx="226285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4b. Get off the slide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61E39B1-EDEE-BA39-9BB9-476641521F7A}"/>
              </a:ext>
            </a:extLst>
          </p:cNvPr>
          <p:cNvCxnSpPr>
            <a:cxnSpLocks/>
          </p:cNvCxnSpPr>
          <p:nvPr/>
        </p:nvCxnSpPr>
        <p:spPr>
          <a:xfrm>
            <a:off x="4981695" y="5359078"/>
            <a:ext cx="0" cy="2531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DE3DB53-594C-475B-7AB7-8EDB7563A067}"/>
              </a:ext>
            </a:extLst>
          </p:cNvPr>
          <p:cNvSpPr txBox="1"/>
          <p:nvPr/>
        </p:nvSpPr>
        <p:spPr>
          <a:xfrm>
            <a:off x="2182228" y="3608104"/>
            <a:ext cx="273700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3. Sit at the top of the slide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A79E32B-89EC-AAD6-6C21-68DDA178EA5E}"/>
              </a:ext>
            </a:extLst>
          </p:cNvPr>
          <p:cNvCxnSpPr>
            <a:cxnSpLocks/>
          </p:cNvCxnSpPr>
          <p:nvPr/>
        </p:nvCxnSpPr>
        <p:spPr>
          <a:xfrm>
            <a:off x="3545148" y="3228408"/>
            <a:ext cx="0" cy="3085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2446277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142B7-EF66-D7D9-5817-CE4B5185A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47D7F2AA-A78D-8C78-A6D2-A3A56852D9F6}"/>
              </a:ext>
            </a:extLst>
          </p:cNvPr>
          <p:cNvSpPr txBox="1">
            <a:spLocks/>
          </p:cNvSpPr>
          <p:nvPr/>
        </p:nvSpPr>
        <p:spPr>
          <a:xfrm>
            <a:off x="551383" y="620688"/>
            <a:ext cx="11495837" cy="77220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ADE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Investigating Mechanistic Steps: The General Idea</a:t>
            </a:r>
          </a:p>
        </p:txBody>
      </p:sp>
      <p:pic>
        <p:nvPicPr>
          <p:cNvPr id="4" name="Picture 4" descr="Figure 9.3">
            <a:extLst>
              <a:ext uri="{FF2B5EF4-FFF2-40B4-BE49-F238E27FC236}">
                <a16:creationId xmlns:a16="http://schemas.microsoft.com/office/drawing/2014/main" id="{E7B69AE4-F3DC-1D81-019D-4A1A5695B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123" y="2030935"/>
            <a:ext cx="5075863" cy="315586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811275-9FED-2F36-92AF-ED7B4180BB63}"/>
              </a:ext>
            </a:extLst>
          </p:cNvPr>
          <p:cNvSpPr txBox="1"/>
          <p:nvPr/>
        </p:nvSpPr>
        <p:spPr>
          <a:xfrm>
            <a:off x="3266007" y="5233091"/>
            <a:ext cx="54874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NZ" sz="900" dirty="0">
                <a:effectLst/>
                <a:latin typeface="Helvetica" pitchFamily="2" charset="0"/>
              </a:rPr>
              <a:t>Ouellette, R. J. and Rawn, J. D. (2018), </a:t>
            </a:r>
            <a:r>
              <a:rPr lang="en-NZ" sz="900" i="1" dirty="0">
                <a:effectLst/>
                <a:latin typeface="Helvetica" pitchFamily="2" charset="0"/>
              </a:rPr>
              <a:t>Haloalkanes and alcohols Nucleophilic Substitution and Elimination Reactions</a:t>
            </a:r>
            <a:r>
              <a:rPr lang="en-NZ" sz="900" dirty="0">
                <a:effectLst/>
                <a:latin typeface="Helvetica" pitchFamily="2" charset="0"/>
              </a:rPr>
              <a:t>, Elsevier, pp. 255--298.</a:t>
            </a:r>
          </a:p>
          <a:p>
            <a:pPr>
              <a:buNone/>
            </a:pPr>
            <a:br>
              <a:rPr lang="en-NZ" sz="900" dirty="0">
                <a:effectLst/>
                <a:latin typeface="Helvetica" pitchFamily="2" charset="0"/>
              </a:rPr>
            </a:br>
            <a:endParaRPr lang="en-NZ" sz="900" dirty="0">
              <a:effectLst/>
              <a:latin typeface="Helvetica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B26FC96-03C6-9FC5-3357-041C41EE1F3F}"/>
              </a:ext>
            </a:extLst>
          </p:cNvPr>
          <p:cNvSpPr/>
          <p:nvPr/>
        </p:nvSpPr>
        <p:spPr>
          <a:xfrm>
            <a:off x="4598392" y="3631726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140949F-B6C0-7FD0-8978-B925C3CB8799}"/>
              </a:ext>
            </a:extLst>
          </p:cNvPr>
          <p:cNvSpPr/>
          <p:nvPr/>
        </p:nvSpPr>
        <p:spPr>
          <a:xfrm>
            <a:off x="4865092" y="3446728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BFE5E6C-4E2B-DC0F-BAA9-EBF67F173DB1}"/>
              </a:ext>
            </a:extLst>
          </p:cNvPr>
          <p:cNvSpPr/>
          <p:nvPr/>
        </p:nvSpPr>
        <p:spPr>
          <a:xfrm>
            <a:off x="5023532" y="3146085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682B13-2CD0-829B-89B9-FB670B1CCBDE}"/>
              </a:ext>
            </a:extLst>
          </p:cNvPr>
          <p:cNvSpPr/>
          <p:nvPr/>
        </p:nvSpPr>
        <p:spPr>
          <a:xfrm>
            <a:off x="5168962" y="2845442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139655A-16F6-5618-2F17-C4D18E4BAA85}"/>
              </a:ext>
            </a:extLst>
          </p:cNvPr>
          <p:cNvSpPr/>
          <p:nvPr/>
        </p:nvSpPr>
        <p:spPr>
          <a:xfrm>
            <a:off x="5299802" y="2604784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E2A41A5-2793-859B-B4CB-A66906240CF2}"/>
              </a:ext>
            </a:extLst>
          </p:cNvPr>
          <p:cNvSpPr/>
          <p:nvPr/>
        </p:nvSpPr>
        <p:spPr>
          <a:xfrm>
            <a:off x="5501081" y="2500569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DADF0B8-ADA2-CDB6-EB4F-C4E4746FAC6C}"/>
              </a:ext>
            </a:extLst>
          </p:cNvPr>
          <p:cNvSpPr/>
          <p:nvPr/>
        </p:nvSpPr>
        <p:spPr>
          <a:xfrm>
            <a:off x="5710631" y="2595819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D1B04F7-44C4-6B9C-1F8F-7927F60ACAED}"/>
              </a:ext>
            </a:extLst>
          </p:cNvPr>
          <p:cNvSpPr/>
          <p:nvPr/>
        </p:nvSpPr>
        <p:spPr>
          <a:xfrm>
            <a:off x="5859221" y="2835849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98EF542-4651-CA4F-3F15-42B55157ED71}"/>
              </a:ext>
            </a:extLst>
          </p:cNvPr>
          <p:cNvSpPr/>
          <p:nvPr/>
        </p:nvSpPr>
        <p:spPr>
          <a:xfrm>
            <a:off x="5990659" y="3101855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B276DF1-EAE2-4D76-6137-FD1FA025BE40}"/>
              </a:ext>
            </a:extLst>
          </p:cNvPr>
          <p:cNvSpPr/>
          <p:nvPr/>
        </p:nvSpPr>
        <p:spPr>
          <a:xfrm>
            <a:off x="6101832" y="3367861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44A3D75-BA1A-C2CF-FB6D-1EF5EF9A0427}"/>
              </a:ext>
            </a:extLst>
          </p:cNvPr>
          <p:cNvSpPr/>
          <p:nvPr/>
        </p:nvSpPr>
        <p:spPr>
          <a:xfrm>
            <a:off x="6210091" y="3608866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19D89BA-88D7-A628-D150-1E94B0E7CAF5}"/>
              </a:ext>
            </a:extLst>
          </p:cNvPr>
          <p:cNvSpPr/>
          <p:nvPr/>
        </p:nvSpPr>
        <p:spPr>
          <a:xfrm>
            <a:off x="6328201" y="3875566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CE1CCB2-30EA-4C39-F9B7-8B3FC5E7B241}"/>
              </a:ext>
            </a:extLst>
          </p:cNvPr>
          <p:cNvSpPr/>
          <p:nvPr/>
        </p:nvSpPr>
        <p:spPr>
          <a:xfrm>
            <a:off x="6457741" y="4107976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9979709-4F13-7621-77A3-F34623208240}"/>
              </a:ext>
            </a:extLst>
          </p:cNvPr>
          <p:cNvSpPr/>
          <p:nvPr/>
        </p:nvSpPr>
        <p:spPr>
          <a:xfrm>
            <a:off x="6606331" y="4348006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7F74C7F-A4E9-8046-2014-B70C3FF80648}"/>
              </a:ext>
            </a:extLst>
          </p:cNvPr>
          <p:cNvSpPr/>
          <p:nvPr/>
        </p:nvSpPr>
        <p:spPr>
          <a:xfrm>
            <a:off x="6812071" y="4553746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3BFD27C-9D4A-F005-580F-D3019954115E}"/>
              </a:ext>
            </a:extLst>
          </p:cNvPr>
          <p:cNvSpPr/>
          <p:nvPr/>
        </p:nvSpPr>
        <p:spPr>
          <a:xfrm>
            <a:off x="7055911" y="4740436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89AB283-711C-F1B4-3D03-971866869CEF}"/>
              </a:ext>
            </a:extLst>
          </p:cNvPr>
          <p:cNvSpPr/>
          <p:nvPr/>
        </p:nvSpPr>
        <p:spPr>
          <a:xfrm>
            <a:off x="7368331" y="4812826"/>
            <a:ext cx="178419" cy="1849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0161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0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5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22F7D02A-538D-A942-8535-AA0A4D8608FB}"/>
              </a:ext>
            </a:extLst>
          </p:cNvPr>
          <p:cNvSpPr txBox="1">
            <a:spLocks/>
          </p:cNvSpPr>
          <p:nvPr/>
        </p:nvSpPr>
        <p:spPr>
          <a:xfrm>
            <a:off x="551384" y="1528423"/>
            <a:ext cx="5623640" cy="127753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 defTabSz="457200" rtl="0" eaLnBrk="1" latinLnBrk="0" hangingPunct="1">
              <a:lnSpc>
                <a:spcPts val="2500"/>
              </a:lnSpc>
              <a:spcBef>
                <a:spcPts val="0"/>
              </a:spcBef>
              <a:buFont typeface="Arial"/>
              <a:buNone/>
              <a:defRPr sz="2600" kern="1200" cap="all">
                <a:solidFill>
                  <a:schemeClr val="bg1"/>
                </a:solidFill>
                <a:latin typeface="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tx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4B5723A6-256B-EA40-8E1B-AD4F3B140003}"/>
              </a:ext>
            </a:extLst>
          </p:cNvPr>
          <p:cNvSpPr txBox="1">
            <a:spLocks/>
          </p:cNvSpPr>
          <p:nvPr/>
        </p:nvSpPr>
        <p:spPr>
          <a:xfrm>
            <a:off x="551383" y="620688"/>
            <a:ext cx="10846929" cy="772201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ADE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OK, lets get into the online tutorial and login to Mahuika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AF4834-8EF5-8DA0-7240-C7C8E9E46C77}"/>
              </a:ext>
            </a:extLst>
          </p:cNvPr>
          <p:cNvSpPr txBox="1"/>
          <p:nvPr/>
        </p:nvSpPr>
        <p:spPr>
          <a:xfrm>
            <a:off x="574794" y="1925183"/>
            <a:ext cx="10941214" cy="128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Can you do the following:</a:t>
            </a:r>
          </a:p>
          <a:p>
            <a:pPr marL="285750" indent="-285750">
              <a:lnSpc>
                <a:spcPct val="150000"/>
              </a:lnSpc>
              <a:buClr>
                <a:srgbClr val="00B9E4"/>
              </a:buClr>
              <a:buFont typeface="System Font Regular"/>
              <a:buChar char="&gt;"/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the </a:t>
            </a:r>
            <a:r>
              <a:rPr lang="en-US" dirty="0" err="1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github</a:t>
            </a: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tutorial page: </a:t>
            </a: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2"/>
              </a:rPr>
              <a:t>https://geoffreyweal.github.io/ORCA_Mechanism_Procedure</a:t>
            </a:r>
            <a:endParaRPr lang="en-US" dirty="0">
              <a:solidFill>
                <a:srgbClr val="001C36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00B9E4"/>
              </a:buClr>
              <a:buFont typeface="System Font Regular"/>
              <a:buChar char="&gt;"/>
            </a:pP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up either a terminal on your computer or on </a:t>
            </a:r>
            <a:r>
              <a:rPr lang="en-US" dirty="0" err="1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NeSI</a:t>
            </a: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OnDemand: </a:t>
            </a: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3"/>
              </a:rPr>
              <a:t>https://ondemand.nesi.org.nz/public/</a:t>
            </a:r>
            <a:r>
              <a:rPr lang="en-US" dirty="0">
                <a:solidFill>
                  <a:srgbClr val="001C3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C15AAF2-546A-D99C-93E1-30709A5F9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0343" y="3210791"/>
            <a:ext cx="3829008" cy="285591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76F582F5-0E71-FD31-F8A2-311664BC9154}"/>
              </a:ext>
            </a:extLst>
          </p:cNvPr>
          <p:cNvSpPr/>
          <p:nvPr/>
        </p:nvSpPr>
        <p:spPr>
          <a:xfrm>
            <a:off x="4282287" y="4638748"/>
            <a:ext cx="706171" cy="102872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67249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sitting, water, table&#10;&#10;Description automatically generated">
            <a:extLst>
              <a:ext uri="{FF2B5EF4-FFF2-40B4-BE49-F238E27FC236}">
                <a16:creationId xmlns:a16="http://schemas.microsoft.com/office/drawing/2014/main" id="{2D40349D-FDB1-534D-B169-DE0185E64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864" y="0"/>
            <a:ext cx="7320136" cy="6862628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3CBB4A36-5AAC-CC40-AD59-3FF1FFA45126}"/>
              </a:ext>
            </a:extLst>
          </p:cNvPr>
          <p:cNvSpPr/>
          <p:nvPr/>
        </p:nvSpPr>
        <p:spPr>
          <a:xfrm>
            <a:off x="-24680" y="-66876"/>
            <a:ext cx="9480376" cy="6952260"/>
          </a:xfrm>
          <a:custGeom>
            <a:avLst/>
            <a:gdLst>
              <a:gd name="connsiteX0" fmla="*/ 0 w 7915774"/>
              <a:gd name="connsiteY0" fmla="*/ 0 h 6881381"/>
              <a:gd name="connsiteX1" fmla="*/ 7915774 w 7915774"/>
              <a:gd name="connsiteY1" fmla="*/ 9845 h 6881381"/>
              <a:gd name="connsiteX2" fmla="*/ 4676608 w 7915774"/>
              <a:gd name="connsiteY2" fmla="*/ 6871536 h 6881381"/>
              <a:gd name="connsiteX3" fmla="*/ 19690 w 7915774"/>
              <a:gd name="connsiteY3" fmla="*/ 6881381 h 6881381"/>
              <a:gd name="connsiteX4" fmla="*/ 0 w 7915774"/>
              <a:gd name="connsiteY4" fmla="*/ 0 h 6881381"/>
              <a:gd name="connsiteX0" fmla="*/ 0 w 8974901"/>
              <a:gd name="connsiteY0" fmla="*/ 0 h 6892670"/>
              <a:gd name="connsiteX1" fmla="*/ 8974901 w 8974901"/>
              <a:gd name="connsiteY1" fmla="*/ 21134 h 6892670"/>
              <a:gd name="connsiteX2" fmla="*/ 5735735 w 8974901"/>
              <a:gd name="connsiteY2" fmla="*/ 6882825 h 6892670"/>
              <a:gd name="connsiteX3" fmla="*/ 1078817 w 8974901"/>
              <a:gd name="connsiteY3" fmla="*/ 6892670 h 6892670"/>
              <a:gd name="connsiteX4" fmla="*/ 0 w 8974901"/>
              <a:gd name="connsiteY4" fmla="*/ 0 h 6892670"/>
              <a:gd name="connsiteX0" fmla="*/ 0 w 8974901"/>
              <a:gd name="connsiteY0" fmla="*/ 0 h 6882825"/>
              <a:gd name="connsiteX1" fmla="*/ 8974901 w 8974901"/>
              <a:gd name="connsiteY1" fmla="*/ 21134 h 6882825"/>
              <a:gd name="connsiteX2" fmla="*/ 5735735 w 8974901"/>
              <a:gd name="connsiteY2" fmla="*/ 6882825 h 6882825"/>
              <a:gd name="connsiteX3" fmla="*/ 51785 w 8974901"/>
              <a:gd name="connsiteY3" fmla="*/ 6864447 h 6882825"/>
              <a:gd name="connsiteX4" fmla="*/ 0 w 8974901"/>
              <a:gd name="connsiteY4" fmla="*/ 0 h 6882825"/>
              <a:gd name="connsiteX0" fmla="*/ 0 w 8974901"/>
              <a:gd name="connsiteY0" fmla="*/ 0 h 6882825"/>
              <a:gd name="connsiteX1" fmla="*/ 8974901 w 8974901"/>
              <a:gd name="connsiteY1" fmla="*/ 21134 h 6882825"/>
              <a:gd name="connsiteX2" fmla="*/ 5735735 w 8974901"/>
              <a:gd name="connsiteY2" fmla="*/ 6882825 h 6882825"/>
              <a:gd name="connsiteX3" fmla="*/ 3643 w 8974901"/>
              <a:gd name="connsiteY3" fmla="*/ 6881381 h 6882825"/>
              <a:gd name="connsiteX4" fmla="*/ 0 w 8974901"/>
              <a:gd name="connsiteY4" fmla="*/ 0 h 6882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74901" h="6882825">
                <a:moveTo>
                  <a:pt x="0" y="0"/>
                </a:moveTo>
                <a:lnTo>
                  <a:pt x="8974901" y="21134"/>
                </a:lnTo>
                <a:lnTo>
                  <a:pt x="5735735" y="6882825"/>
                </a:lnTo>
                <a:lnTo>
                  <a:pt x="3643" y="6881381"/>
                </a:lnTo>
                <a:cubicBezTo>
                  <a:pt x="-2920" y="4590869"/>
                  <a:pt x="6563" y="2300357"/>
                  <a:pt x="0" y="0"/>
                </a:cubicBezTo>
                <a:close/>
              </a:path>
            </a:pathLst>
          </a:custGeom>
          <a:solidFill>
            <a:srgbClr val="15ABDE"/>
          </a:solidFill>
          <a:ln>
            <a:solidFill>
              <a:srgbClr val="14A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Bryant Pro Medium"/>
              <a:cs typeface="Bryant Pro Medium"/>
            </a:endParaRPr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E346F131-B805-5948-85BB-546932863CD4}"/>
              </a:ext>
            </a:extLst>
          </p:cNvPr>
          <p:cNvSpPr txBox="1">
            <a:spLocks/>
          </p:cNvSpPr>
          <p:nvPr/>
        </p:nvSpPr>
        <p:spPr>
          <a:xfrm>
            <a:off x="545218" y="739736"/>
            <a:ext cx="2133600" cy="365125"/>
          </a:xfrm>
          <a:prstGeom prst="rect">
            <a:avLst/>
          </a:prstGeom>
          <a:noFill/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5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2CDF92-58A1-F446-82C2-D43F988A9246}" type="datetime4">
              <a:rPr lang="en-NZ" smtClean="0">
                <a:latin typeface="Arial"/>
                <a:cs typeface="Arial"/>
              </a:rPr>
              <a:pPr/>
              <a:t>7 July 2026</a:t>
            </a:fld>
            <a:endParaRPr lang="en-US">
              <a:latin typeface="Arial"/>
              <a:cs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49D891-5293-A548-9384-90A31C213D11}"/>
              </a:ext>
            </a:extLst>
          </p:cNvPr>
          <p:cNvSpPr txBox="1"/>
          <p:nvPr/>
        </p:nvSpPr>
        <p:spPr>
          <a:xfrm>
            <a:off x="545218" y="2030041"/>
            <a:ext cx="84694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05D692-022E-7040-922F-20E8AAC1B247}"/>
              </a:ext>
            </a:extLst>
          </p:cNvPr>
          <p:cNvSpPr txBox="1"/>
          <p:nvPr/>
        </p:nvSpPr>
        <p:spPr>
          <a:xfrm>
            <a:off x="545218" y="2971247"/>
            <a:ext cx="84694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bg1"/>
                </a:solidFill>
                <a:latin typeface="+mj-lt"/>
              </a:rPr>
              <a:t>Are there any questions?</a:t>
            </a:r>
          </a:p>
        </p:txBody>
      </p:sp>
      <p:pic>
        <p:nvPicPr>
          <p:cNvPr id="24" name="Picture 23" descr="REANNZ_logo_NZ white_RGB.ai">
            <a:extLst>
              <a:ext uri="{FF2B5EF4-FFF2-40B4-BE49-F238E27FC236}">
                <a16:creationId xmlns:a16="http://schemas.microsoft.com/office/drawing/2014/main" id="{7CBB58FB-0DE9-4F4D-938D-97658AD659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018" y="5891025"/>
            <a:ext cx="1864995" cy="778335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D67BCDE-43A6-3241-AEF4-6D3543B3FE7B}"/>
              </a:ext>
            </a:extLst>
          </p:cNvPr>
          <p:cNvCxnSpPr>
            <a:cxnSpLocks/>
          </p:cNvCxnSpPr>
          <p:nvPr/>
        </p:nvCxnSpPr>
        <p:spPr>
          <a:xfrm>
            <a:off x="734590" y="4012045"/>
            <a:ext cx="848808" cy="0"/>
          </a:xfrm>
          <a:prstGeom prst="line">
            <a:avLst/>
          </a:prstGeom>
          <a:ln w="161925" cap="rnd">
            <a:solidFill>
              <a:schemeClr val="bg1">
                <a:alpha val="1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050490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Standar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lt BG 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lt BG 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No B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FE7CA15A82804D944447EDF491DA58" ma:contentTypeVersion="6" ma:contentTypeDescription="Create a new document." ma:contentTypeScope="" ma:versionID="e19cc24611d5ba3db0f57aeb361c79f6">
  <xsd:schema xmlns:xsd="http://www.w3.org/2001/XMLSchema" xmlns:xs="http://www.w3.org/2001/XMLSchema" xmlns:p="http://schemas.microsoft.com/office/2006/metadata/properties" xmlns:ns2="2c6577cb-94fb-46ba-92e2-a9872ce9b260" xmlns:ns3="e9b4376f-bcc8-4646-9cdf-d00916790817" targetNamespace="http://schemas.microsoft.com/office/2006/metadata/properties" ma:root="true" ma:fieldsID="38d7daa6d6dd88518238d878bc78d45b" ns2:_="" ns3:_="">
    <xsd:import namespace="2c6577cb-94fb-46ba-92e2-a9872ce9b260"/>
    <xsd:import namespace="e9b4376f-bcc8-4646-9cdf-d00916790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6577cb-94fb-46ba-92e2-a9872ce9b2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b4376f-bcc8-4646-9cdf-d00916790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D87F45A-2D6A-4755-9B24-8A33068C9D9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1AA02B-FE24-40CE-8EDC-D6BB36DE31F5}">
  <ds:schemaRefs>
    <ds:schemaRef ds:uri="2c6577cb-94fb-46ba-92e2-a9872ce9b260"/>
    <ds:schemaRef ds:uri="e9b4376f-bcc8-4646-9cdf-d0091679081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2C3EC65-ED29-4EB2-A226-51C57154CDD3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e9b4376f-bcc8-4646-9cdf-d00916790817"/>
    <ds:schemaRef ds:uri="2c6577cb-94fb-46ba-92e2-a9872ce9b260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756</Words>
  <Application>Microsoft Macintosh PowerPoint</Application>
  <PresentationFormat>Widescreen</PresentationFormat>
  <Paragraphs>80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Arial</vt:lpstr>
      <vt:lpstr>Bryant Pro Medium</vt:lpstr>
      <vt:lpstr>Calibri</vt:lpstr>
      <vt:lpstr>Calibri Light</vt:lpstr>
      <vt:lpstr>Helvetica</vt:lpstr>
      <vt:lpstr>Roboto</vt:lpstr>
      <vt:lpstr>System Font Regular</vt:lpstr>
      <vt:lpstr>Standard</vt:lpstr>
      <vt:lpstr>Alt BG 1</vt:lpstr>
      <vt:lpstr>Alt BG 2</vt:lpstr>
      <vt:lpstr>No BG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Cat McQuillan</dc:creator>
  <cp:lastModifiedBy>Geoffrey Weal</cp:lastModifiedBy>
  <cp:revision>18</cp:revision>
  <dcterms:created xsi:type="dcterms:W3CDTF">2020-07-10T01:04:38Z</dcterms:created>
  <dcterms:modified xsi:type="dcterms:W3CDTF">2026-07-06T21:21:51Z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0x01010020FE7CA15A82804D944447EDF491DA58</vt:lpwstr>
  </property>
  <property fmtid="{D5CDD505-2E9C-101B-9397-08002B2CF9AE}" pid="3" name="xd_ProgID">
    <vt:lpwstr/>
  </property>
  <property fmtid="{D5CDD505-2E9C-101B-9397-08002B2CF9AE}" pid="4" name="ComplianceAssetId">
    <vt:lpwstr/>
  </property>
  <property fmtid="{D5CDD505-2E9C-101B-9397-08002B2CF9AE}" pid="5" name="TemplateUrl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xd_Signature">
    <vt:lpwstr/>
  </property>
</Properties>
</file>